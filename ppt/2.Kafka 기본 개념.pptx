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0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3" r:id="rId27"/>
    <p:sldId id="282" r:id="rId28"/>
    <p:sldId id="284" r:id="rId29"/>
    <p:sldId id="285" r:id="rId30"/>
  </p:sldIdLst>
  <p:sldSz cx="12192000" cy="6858000"/>
  <p:notesSz cx="7105650" cy="10236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D232496-CB87-4389-98EF-DC8547C5DD39}">
          <p14:sldIdLst>
            <p14:sldId id="256"/>
            <p14:sldId id="258"/>
            <p14:sldId id="259"/>
          </p14:sldIdLst>
        </p14:section>
        <p14:section name="topic 생성/조회/삭제 - terminal" id="{D5DB72D3-C39F-4094-9DC0-77EF3DC6AF29}">
          <p14:sldIdLst>
            <p14:sldId id="260"/>
          </p14:sldIdLst>
        </p14:section>
        <p14:section name="topic에 메세지 넣기" id="{6B4BE8EC-5E21-4070-AC3A-B2AD3BFCC110}">
          <p14:sldIdLst>
            <p14:sldId id="261"/>
            <p14:sldId id="262"/>
            <p14:sldId id="263"/>
            <p14:sldId id="264"/>
            <p14:sldId id="265"/>
          </p14:sldIdLst>
        </p14:section>
        <p14:section name="메세지 처리 기억하기" id="{70B26F1B-3EB6-41B4-987B-0396262F22C9}">
          <p14:sldIdLst>
            <p14:sldId id="270"/>
            <p14:sldId id="266"/>
            <p14:sldId id="267"/>
            <p14:sldId id="268"/>
          </p14:sldIdLst>
        </p14:section>
        <p14:section name="토픽 컨슈머 그룹 이름짓는 법" id="{6AC93E99-34CF-40B4-9E48-2240981D5459}">
          <p14:sldIdLst>
            <p14:sldId id="269"/>
          </p14:sldIdLst>
        </p14:section>
        <p14:section name="SpringBoot(Producer) 서버작성" id="{854DDE63-1510-455A-8AA0-BFC4AD822F67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SpringBoot가 Kafka에 메세지를 잘 넣었는지 확인" id="{13CA8B6C-8C88-44AB-9BE2-C7F99C555F2F}">
          <p14:sldIdLst>
            <p14:sldId id="277"/>
            <p14:sldId id="278"/>
          </p14:sldIdLst>
        </p14:section>
        <p14:section name="SpringBoot(Consumer) 서버 작성" id="{9573E626-26AA-4DD8-BE43-A6E4F45FC735}">
          <p14:sldIdLst>
            <p14:sldId id="279"/>
            <p14:sldId id="280"/>
            <p14:sldId id="281"/>
            <p14:sldId id="283"/>
            <p14:sldId id="282"/>
          </p14:sldIdLst>
        </p14:section>
        <p14:section name="Kafka 비동기 처리인한 이점 느껴보기" id="{AF27D742-4D25-4E61-A650-721198C85C19}">
          <p14:sldIdLst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19510-20E8-4CAB-9777-7EBBF5E17EEB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E714-399B-452C-9E27-5AFF259AD2C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3553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19510-20E8-4CAB-9777-7EBBF5E17EEB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E714-399B-452C-9E27-5AFF259A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559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19510-20E8-4CAB-9777-7EBBF5E17EEB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E714-399B-452C-9E27-5AFF259AD2C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474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19510-20E8-4CAB-9777-7EBBF5E17EEB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E714-399B-452C-9E27-5AFF259A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6147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19510-20E8-4CAB-9777-7EBBF5E17EEB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E714-399B-452C-9E27-5AFF259A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728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19510-20E8-4CAB-9777-7EBBF5E17EEB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E714-399B-452C-9E27-5AFF259A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616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19510-20E8-4CAB-9777-7EBBF5E17EEB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E714-399B-452C-9E27-5AFF259A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239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A119510-20E8-4CAB-9777-7EBBF5E17EEB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EDE714-399B-452C-9E27-5AFF259A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925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19510-20E8-4CAB-9777-7EBBF5E17EEB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E714-399B-452C-9E27-5AFF259A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58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19510-20E8-4CAB-9777-7EBBF5E17EEB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E714-399B-452C-9E27-5AFF259A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341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19510-20E8-4CAB-9777-7EBBF5E17EEB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E714-399B-452C-9E27-5AFF259A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707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A119510-20E8-4CAB-9777-7EBBF5E17EEB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FEDE714-399B-452C-9E27-5AFF259AD2C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44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igitalbourgeois.tistory.com/269#google_vignette" TargetMode="External"/><Relationship Id="rId2" Type="http://schemas.openxmlformats.org/officeDocument/2006/relationships/hyperlink" Target="https://data-engineer-tech.tistory.com/36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devfoxstar.github.io/middleware/kafka-topic-naming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07A0A-8C8C-0F4F-3A6A-50CCA496AA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Kafka </a:t>
            </a:r>
            <a:r>
              <a:rPr lang="ko-KR" altLang="en-US"/>
              <a:t>기본 개념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A1EA1A-71B2-B401-E13A-6AA94C32EB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054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35822-5739-5532-D621-47C21A4E1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Kafka</a:t>
            </a:r>
            <a:r>
              <a:rPr lang="ko-KR" altLang="en-US"/>
              <a:t>의 구조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7E512E2-526A-E20F-4E12-A70D5C672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65376"/>
            <a:ext cx="5018278" cy="48617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9D8977-5653-2794-1E53-CE30C1EF0BB3}"/>
              </a:ext>
            </a:extLst>
          </p:cNvPr>
          <p:cNvSpPr txBox="1"/>
          <p:nvPr/>
        </p:nvSpPr>
        <p:spPr>
          <a:xfrm>
            <a:off x="5413248" y="1865376"/>
            <a:ext cx="60441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프로듀서 </a:t>
            </a:r>
            <a:r>
              <a:rPr lang="en-US" altLang="ko-KR" sz="1400">
                <a:sym typeface="Wingdings" panose="05000000000000000000" pitchFamily="2" charset="2"/>
              </a:rPr>
              <a:t> </a:t>
            </a:r>
            <a:r>
              <a:rPr lang="ko-KR" altLang="en-US" sz="1400">
                <a:sym typeface="Wingdings" panose="05000000000000000000" pitchFamily="2" charset="2"/>
              </a:rPr>
              <a:t>메세지를 </a:t>
            </a:r>
            <a:r>
              <a:rPr lang="en-US" altLang="ko-KR" sz="1400">
                <a:sym typeface="Wingdings" panose="05000000000000000000" pitchFamily="2" charset="2"/>
              </a:rPr>
              <a:t>Kafka </a:t>
            </a:r>
            <a:r>
              <a:rPr lang="ko-KR" altLang="en-US" sz="1400">
                <a:sym typeface="Wingdings" panose="05000000000000000000" pitchFamily="2" charset="2"/>
              </a:rPr>
              <a:t>큐로 전달하는 주체</a:t>
            </a:r>
            <a:br>
              <a:rPr lang="en-US" altLang="ko-KR" sz="1400">
                <a:sym typeface="Wingdings" panose="05000000000000000000" pitchFamily="2" charset="2"/>
              </a:rPr>
            </a:br>
            <a:r>
              <a:rPr lang="en-US" altLang="ko-KR" sz="1400">
                <a:sym typeface="Wingdings" panose="05000000000000000000" pitchFamily="2" charset="2"/>
              </a:rPr>
              <a:t>                        </a:t>
            </a:r>
            <a:r>
              <a:rPr lang="ko-KR" altLang="en-US" sz="1400">
                <a:sym typeface="Wingdings" panose="05000000000000000000" pitchFamily="2" charset="2"/>
              </a:rPr>
              <a:t>메세지 전달시 </a:t>
            </a:r>
            <a:r>
              <a:rPr lang="en-US" altLang="ko-KR" sz="1400">
                <a:sym typeface="Wingdings" panose="05000000000000000000" pitchFamily="2" charset="2"/>
              </a:rPr>
              <a:t>Topic (</a:t>
            </a:r>
            <a:r>
              <a:rPr lang="ko-KR" altLang="en-US" sz="1400">
                <a:sym typeface="Wingdings" panose="05000000000000000000" pitchFamily="2" charset="2"/>
              </a:rPr>
              <a:t>전달하려는 주제</a:t>
            </a:r>
            <a:r>
              <a:rPr lang="en-US" altLang="ko-KR" sz="1400">
                <a:sym typeface="Wingdings" panose="05000000000000000000" pitchFamily="2" charset="2"/>
              </a:rPr>
              <a:t>) </a:t>
            </a:r>
            <a:r>
              <a:rPr lang="ko-KR" altLang="en-US" sz="1400">
                <a:sym typeface="Wingdings" panose="05000000000000000000" pitchFamily="2" charset="2"/>
              </a:rPr>
              <a:t>별로 구분하여</a:t>
            </a:r>
            <a:br>
              <a:rPr lang="en-US" altLang="ko-KR" sz="1400">
                <a:sym typeface="Wingdings" panose="05000000000000000000" pitchFamily="2" charset="2"/>
              </a:rPr>
            </a:br>
            <a:r>
              <a:rPr lang="en-US" altLang="ko-KR" sz="1400">
                <a:sym typeface="Wingdings" panose="05000000000000000000" pitchFamily="2" charset="2"/>
              </a:rPr>
              <a:t>                        Queue</a:t>
            </a:r>
            <a:r>
              <a:rPr lang="ko-KR" altLang="en-US" sz="1400">
                <a:sym typeface="Wingdings" panose="05000000000000000000" pitchFamily="2" charset="2"/>
              </a:rPr>
              <a:t>로 저장</a:t>
            </a:r>
            <a:endParaRPr lang="en-US" altLang="ko-KR" sz="1400">
              <a:sym typeface="Wingdings" panose="05000000000000000000" pitchFamily="2" charset="2"/>
            </a:endParaRPr>
          </a:p>
          <a:p>
            <a:r>
              <a:rPr lang="ko-KR" altLang="en-US" sz="1400">
                <a:sym typeface="Wingdings" panose="05000000000000000000" pitchFamily="2" charset="2"/>
              </a:rPr>
              <a:t>컨슈머 </a:t>
            </a:r>
            <a:r>
              <a:rPr lang="en-US" altLang="ko-KR" sz="1400">
                <a:sym typeface="Wingdings" panose="05000000000000000000" pitchFamily="2" charset="2"/>
              </a:rPr>
              <a:t> Kafka</a:t>
            </a:r>
            <a:r>
              <a:rPr lang="ko-KR" altLang="en-US" sz="1400">
                <a:sym typeface="Wingdings" panose="05000000000000000000" pitchFamily="2" charset="2"/>
              </a:rPr>
              <a:t> 큐에 저장된 메세지를 처리하는 주체</a:t>
            </a:r>
            <a:endParaRPr lang="en-US" altLang="ko-KR" sz="1400">
              <a:sym typeface="Wingdings" panose="05000000000000000000" pitchFamily="2" charset="2"/>
            </a:endParaRPr>
          </a:p>
          <a:p>
            <a:endParaRPr lang="en-US" altLang="ko-KR" sz="1400">
              <a:sym typeface="Wingdings" panose="05000000000000000000" pitchFamily="2" charset="2"/>
            </a:endParaRPr>
          </a:p>
          <a:p>
            <a:r>
              <a:rPr lang="ko-KR" altLang="en-US" sz="1400">
                <a:sym typeface="Wingdings" panose="05000000000000000000" pitchFamily="2" charset="2"/>
              </a:rPr>
              <a:t>토픽 </a:t>
            </a:r>
            <a:r>
              <a:rPr lang="en-US" altLang="ko-KR" sz="1400">
                <a:sym typeface="Wingdings" panose="05000000000000000000" pitchFamily="2" charset="2"/>
              </a:rPr>
              <a:t> </a:t>
            </a:r>
            <a:r>
              <a:rPr lang="ko-KR" altLang="en-US" sz="1400">
                <a:sym typeface="Wingdings" panose="05000000000000000000" pitchFamily="2" charset="2"/>
              </a:rPr>
              <a:t>메세지에 대한 종류를 구분하는 개념</a:t>
            </a:r>
            <a:endParaRPr lang="en-US" altLang="ko-KR" sz="1400">
              <a:sym typeface="Wingdings" panose="05000000000000000000" pitchFamily="2" charset="2"/>
            </a:endParaRPr>
          </a:p>
          <a:p>
            <a:endParaRPr lang="en-US" altLang="ko-KR" sz="1400">
              <a:sym typeface="Wingdings" panose="05000000000000000000" pitchFamily="2" charset="2"/>
            </a:endParaRPr>
          </a:p>
          <a:p>
            <a:r>
              <a:rPr lang="en-US" altLang="ko-KR" sz="1400">
                <a:sym typeface="Wingdings" panose="05000000000000000000" pitchFamily="2" charset="2"/>
              </a:rPr>
              <a:t>(K-training) </a:t>
            </a:r>
            <a:r>
              <a:rPr lang="ko-KR" altLang="en-US" sz="1400">
                <a:sym typeface="Wingdings" panose="05000000000000000000" pitchFamily="2" charset="2"/>
              </a:rPr>
              <a:t>레코드 </a:t>
            </a:r>
            <a:r>
              <a:rPr lang="en-US" altLang="ko-KR" sz="1400">
                <a:sym typeface="Wingdings" panose="05000000000000000000" pitchFamily="2" charset="2"/>
              </a:rPr>
              <a:t>= </a:t>
            </a:r>
            <a:r>
              <a:rPr lang="ko-KR" altLang="en-US" sz="1400">
                <a:sym typeface="Wingdings" panose="05000000000000000000" pitchFamily="2" charset="2"/>
              </a:rPr>
              <a:t>메세지</a:t>
            </a:r>
            <a:endParaRPr lang="en-US" altLang="ko-KR" sz="1400">
              <a:sym typeface="Wingdings" panose="05000000000000000000" pitchFamily="2" charset="2"/>
            </a:endParaRPr>
          </a:p>
          <a:p>
            <a:br>
              <a:rPr lang="en-US" altLang="ko-KR" sz="1400">
                <a:sym typeface="Wingdings" panose="05000000000000000000" pitchFamily="2" charset="2"/>
              </a:rPr>
            </a:br>
            <a:r>
              <a:rPr lang="en-US" altLang="ko-KR" sz="1400">
                <a:sym typeface="Wingdings" panose="05000000000000000000" pitchFamily="2" charset="2"/>
              </a:rPr>
              <a:t>                       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4086052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72D23F-2E84-8969-F0EC-CF966E03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토픽 생성 </a:t>
            </a:r>
            <a:r>
              <a:rPr lang="en-US" altLang="ko-KR"/>
              <a:t>/ </a:t>
            </a:r>
            <a:r>
              <a:rPr lang="ko-KR" altLang="en-US"/>
              <a:t>조회 </a:t>
            </a:r>
            <a:r>
              <a:rPr lang="en-US" altLang="ko-KR"/>
              <a:t>/ </a:t>
            </a:r>
            <a:r>
              <a:rPr lang="ko-KR" altLang="en-US"/>
              <a:t>삭제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18D5C7E-1D2E-E981-0F7B-FE6A51986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4835" y="1978299"/>
            <a:ext cx="6037189" cy="45930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3F35447-0570-9576-BBD8-F596E617E1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540"/>
          <a:stretch>
            <a:fillRect/>
          </a:stretch>
        </p:blipFill>
        <p:spPr>
          <a:xfrm>
            <a:off x="228599" y="1978299"/>
            <a:ext cx="5247124" cy="18621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7E7980-2FC9-33C2-3F8B-20E1E34CB310}"/>
              </a:ext>
            </a:extLst>
          </p:cNvPr>
          <p:cNvSpPr txBox="1"/>
          <p:nvPr/>
        </p:nvSpPr>
        <p:spPr>
          <a:xfrm>
            <a:off x="228599" y="3913632"/>
            <a:ext cx="51389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Spring Backend (Producer) </a:t>
            </a:r>
            <a:r>
              <a:rPr lang="ko-KR" altLang="en-US" sz="1200"/>
              <a:t>에서 </a:t>
            </a:r>
            <a:r>
              <a:rPr lang="en-US" altLang="ko-KR" sz="1200"/>
              <a:t>Kafka Queue </a:t>
            </a:r>
            <a:r>
              <a:rPr lang="ko-KR" altLang="en-US" sz="1200"/>
              <a:t>로 메세지를 보낼수 있는것 처럼</a:t>
            </a:r>
            <a:br>
              <a:rPr lang="en-US" altLang="ko-KR" sz="1200"/>
            </a:br>
            <a:endParaRPr lang="en-US" altLang="ko-KR" sz="1200"/>
          </a:p>
          <a:p>
            <a:r>
              <a:rPr lang="ko-KR" altLang="en-US" sz="1200"/>
              <a:t>터미널에서 </a:t>
            </a:r>
            <a:r>
              <a:rPr lang="en-US" altLang="ko-KR" sz="1200"/>
              <a:t>Kafka</a:t>
            </a:r>
            <a:r>
              <a:rPr lang="ko-KR" altLang="en-US" sz="1200"/>
              <a:t>로 메세지를 </a:t>
            </a:r>
            <a:r>
              <a:rPr lang="en-US" altLang="ko-KR" sz="1200"/>
              <a:t>Topic </a:t>
            </a:r>
            <a:r>
              <a:rPr lang="ko-KR" altLang="en-US" sz="1200"/>
              <a:t>별로 생성및 조작할 수 있다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/>
              <a:t>(※ Redis</a:t>
            </a:r>
            <a:r>
              <a:rPr lang="ko-KR" altLang="en-US" sz="1200"/>
              <a:t>와 동일함</a:t>
            </a:r>
            <a:r>
              <a:rPr lang="en-US" altLang="ko-KR" sz="1200"/>
              <a:t>)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867806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E1911-2319-6C48-F48D-BEE8C12CB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토픽 생성</a:t>
            </a:r>
            <a:r>
              <a:rPr lang="en-US" altLang="ko-KR"/>
              <a:t>/</a:t>
            </a:r>
            <a:r>
              <a:rPr lang="ko-KR" altLang="en-US"/>
              <a:t>조회</a:t>
            </a:r>
            <a:r>
              <a:rPr lang="en-US" altLang="ko-KR"/>
              <a:t>/</a:t>
            </a:r>
            <a:r>
              <a:rPr lang="ko-KR" altLang="en-US"/>
              <a:t>삭제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494A7E6-9EB0-8CE6-F2E1-F132FA711C87}"/>
              </a:ext>
            </a:extLst>
          </p:cNvPr>
          <p:cNvGrpSpPr/>
          <p:nvPr/>
        </p:nvGrpSpPr>
        <p:grpSpPr>
          <a:xfrm>
            <a:off x="707698" y="2111437"/>
            <a:ext cx="10853928" cy="1161089"/>
            <a:chOff x="769619" y="1935612"/>
            <a:chExt cx="10853928" cy="1161089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0E892DF-1498-97A9-A99D-F1CFB4DF98BF}"/>
                </a:ext>
              </a:extLst>
            </p:cNvPr>
            <p:cNvGrpSpPr/>
            <p:nvPr/>
          </p:nvGrpSpPr>
          <p:grpSpPr>
            <a:xfrm>
              <a:off x="780865" y="1935612"/>
              <a:ext cx="10831437" cy="828791"/>
              <a:chOff x="780865" y="1935612"/>
              <a:chExt cx="10831437" cy="828791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472EC169-B69D-9B65-6BF2-5F6566C11D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0865" y="1935612"/>
                <a:ext cx="10831437" cy="828791"/>
              </a:xfrm>
              <a:prstGeom prst="rect">
                <a:avLst/>
              </a:prstGeom>
            </p:spPr>
          </p:pic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E59B0BFC-894B-50F2-5797-0FC063440309}"/>
                  </a:ext>
                </a:extLst>
              </p:cNvPr>
              <p:cNvSpPr/>
              <p:nvPr/>
            </p:nvSpPr>
            <p:spPr>
              <a:xfrm>
                <a:off x="6126480" y="2432304"/>
                <a:ext cx="2944368" cy="19202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784AF91-7486-EA62-C44A-2FE869744006}"/>
                </a:ext>
              </a:extLst>
            </p:cNvPr>
            <p:cNvSpPr txBox="1"/>
            <p:nvPr/>
          </p:nvSpPr>
          <p:spPr>
            <a:xfrm>
              <a:off x="769619" y="2788924"/>
              <a:ext cx="108539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/>
                <a:t>명령어 </a:t>
              </a:r>
              <a:r>
                <a:rPr lang="en-US" altLang="ko-KR" sz="1400"/>
                <a:t>:localhost:9092</a:t>
              </a:r>
              <a:r>
                <a:rPr lang="ko-KR" altLang="en-US" sz="1400"/>
                <a:t>에 있는 </a:t>
              </a:r>
              <a:r>
                <a:rPr lang="en-US" altLang="ko-KR" sz="1400"/>
                <a:t>Kafka </a:t>
              </a:r>
              <a:r>
                <a:rPr lang="ko-KR" altLang="en-US" sz="1400"/>
                <a:t>서버</a:t>
              </a:r>
              <a:r>
                <a:rPr lang="en-US" altLang="ko-KR" sz="1400"/>
                <a:t>(bootstrap-server) </a:t>
              </a:r>
              <a:r>
                <a:rPr lang="ko-KR" altLang="en-US" sz="1400"/>
                <a:t>를 활용하여 </a:t>
              </a:r>
              <a:r>
                <a:rPr lang="en-US" altLang="ko-KR" sz="1400"/>
                <a:t>email.send</a:t>
              </a:r>
              <a:r>
                <a:rPr lang="ko-KR" altLang="en-US" sz="1400"/>
                <a:t>라는 토픽을 생성한다</a:t>
              </a:r>
              <a:r>
                <a:rPr lang="en-US" altLang="ko-KR" sz="1400"/>
                <a:t>.</a:t>
              </a:r>
              <a:endParaRPr lang="ko-KR" altLang="en-US" sz="1400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1BAB677-34AC-0D88-F01D-3D398F510F34}"/>
              </a:ext>
            </a:extLst>
          </p:cNvPr>
          <p:cNvGrpSpPr/>
          <p:nvPr/>
        </p:nvGrpSpPr>
        <p:grpSpPr>
          <a:xfrm>
            <a:off x="707698" y="3665518"/>
            <a:ext cx="11183113" cy="1662319"/>
            <a:chOff x="769620" y="3250794"/>
            <a:chExt cx="11183113" cy="1662319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305710AB-65CF-629E-EB46-C8BA0A6CA6DB}"/>
                </a:ext>
              </a:extLst>
            </p:cNvPr>
            <p:cNvGrpSpPr/>
            <p:nvPr/>
          </p:nvGrpSpPr>
          <p:grpSpPr>
            <a:xfrm>
              <a:off x="769620" y="3250794"/>
              <a:ext cx="10853928" cy="802606"/>
              <a:chOff x="769620" y="3250794"/>
              <a:chExt cx="10853928" cy="802606"/>
            </a:xfrm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B892590C-AA10-E36B-4F79-556679F75D61}"/>
                  </a:ext>
                </a:extLst>
              </p:cNvPr>
              <p:cNvGrpSpPr/>
              <p:nvPr/>
            </p:nvGrpSpPr>
            <p:grpSpPr>
              <a:xfrm>
                <a:off x="780865" y="3250794"/>
                <a:ext cx="10305930" cy="475488"/>
                <a:chOff x="780865" y="3429000"/>
                <a:chExt cx="10305930" cy="475488"/>
              </a:xfrm>
            </p:grpSpPr>
            <p:pic>
              <p:nvPicPr>
                <p:cNvPr id="9" name="그림 8">
                  <a:extLst>
                    <a:ext uri="{FF2B5EF4-FFF2-40B4-BE49-F238E27FC236}">
                      <a16:creationId xmlns:a16="http://schemas.microsoft.com/office/drawing/2014/main" id="{E8DFC7DE-48BA-5514-D494-9C7F20EA1A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0865" y="3429000"/>
                  <a:ext cx="10305930" cy="475488"/>
                </a:xfrm>
                <a:prstGeom prst="rect">
                  <a:avLst/>
                </a:prstGeom>
              </p:spPr>
            </p:pic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EFFFBFDB-AF78-6CC4-A04C-CF67B7C81D12}"/>
                    </a:ext>
                  </a:extLst>
                </p:cNvPr>
                <p:cNvSpPr/>
                <p:nvPr/>
              </p:nvSpPr>
              <p:spPr>
                <a:xfrm>
                  <a:off x="780865" y="3685032"/>
                  <a:ext cx="1130231" cy="173736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AF0CB62-ED98-15ED-8AA3-3B4210925154}"/>
                  </a:ext>
                </a:extLst>
              </p:cNvPr>
              <p:cNvSpPr txBox="1"/>
              <p:nvPr/>
            </p:nvSpPr>
            <p:spPr>
              <a:xfrm>
                <a:off x="769620" y="3745623"/>
                <a:ext cx="1085392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/>
                  <a:t>명령어 </a:t>
                </a:r>
                <a:r>
                  <a:rPr lang="en-US" altLang="ko-KR" sz="1400"/>
                  <a:t>:localhost:9092</a:t>
                </a:r>
                <a:r>
                  <a:rPr lang="ko-KR" altLang="en-US" sz="1400"/>
                  <a:t>에 있는 </a:t>
                </a:r>
                <a:r>
                  <a:rPr lang="en-US" altLang="ko-KR" sz="1400"/>
                  <a:t>Kafka </a:t>
                </a:r>
                <a:r>
                  <a:rPr lang="ko-KR" altLang="en-US" sz="1400"/>
                  <a:t>서버</a:t>
                </a:r>
                <a:r>
                  <a:rPr lang="en-US" altLang="ko-KR" sz="1400"/>
                  <a:t>(bootstrap-server) </a:t>
                </a:r>
                <a:r>
                  <a:rPr lang="ko-KR" altLang="en-US" sz="1400"/>
                  <a:t>를 활용하여 생성되어있는 </a:t>
                </a:r>
                <a:r>
                  <a:rPr lang="en-US" altLang="ko-KR" sz="1400"/>
                  <a:t>topic </a:t>
                </a:r>
                <a:r>
                  <a:rPr lang="ko-KR" altLang="en-US" sz="1400"/>
                  <a:t>목록을 확인한다</a:t>
                </a:r>
                <a:r>
                  <a:rPr lang="en-US" altLang="ko-KR" sz="1400"/>
                  <a:t>. (</a:t>
                </a:r>
                <a:r>
                  <a:rPr lang="ko-KR" altLang="en-US" sz="1400"/>
                  <a:t>전체 </a:t>
                </a:r>
                <a:r>
                  <a:rPr lang="en-US" altLang="ko-KR" sz="1400"/>
                  <a:t>topic </a:t>
                </a:r>
                <a:r>
                  <a:rPr lang="ko-KR" altLang="en-US" sz="1400"/>
                  <a:t>확인</a:t>
                </a:r>
                <a:r>
                  <a:rPr lang="en-US" altLang="ko-KR" sz="1400"/>
                  <a:t>)</a:t>
                </a:r>
                <a:endParaRPr lang="ko-KR" altLang="en-US" sz="1400"/>
              </a:p>
            </p:txBody>
          </p:sp>
        </p:grp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FF9F095C-B49A-9EA1-B424-A7B0FE89A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9620" y="4139049"/>
              <a:ext cx="11183113" cy="46628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33F2124-ACCC-B86C-639B-983B71F36291}"/>
                </a:ext>
              </a:extLst>
            </p:cNvPr>
            <p:cNvSpPr txBox="1"/>
            <p:nvPr/>
          </p:nvSpPr>
          <p:spPr>
            <a:xfrm>
              <a:off x="769620" y="4605336"/>
              <a:ext cx="108539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/>
                <a:t>명령어 </a:t>
              </a:r>
              <a:r>
                <a:rPr lang="en-US" altLang="ko-KR" sz="1400"/>
                <a:t>:localhost:9092</a:t>
              </a:r>
              <a:r>
                <a:rPr lang="ko-KR" altLang="en-US" sz="1400"/>
                <a:t>에 있는 </a:t>
              </a:r>
              <a:r>
                <a:rPr lang="en-US" altLang="ko-KR" sz="1400"/>
                <a:t>Kafka </a:t>
              </a:r>
              <a:r>
                <a:rPr lang="ko-KR" altLang="en-US" sz="1400"/>
                <a:t>서버</a:t>
              </a:r>
              <a:r>
                <a:rPr lang="en-US" altLang="ko-KR" sz="1400"/>
                <a:t>(bootstrap-server) </a:t>
              </a:r>
              <a:r>
                <a:rPr lang="ko-KR" altLang="en-US" sz="1400"/>
                <a:t>를 활용하여 생성되어있는 </a:t>
              </a:r>
              <a:r>
                <a:rPr lang="en-US" altLang="ko-KR" sz="1400"/>
                <a:t>send.email </a:t>
              </a:r>
              <a:r>
                <a:rPr lang="ko-KR" altLang="en-US" sz="1400"/>
                <a:t>토픽에 대한 상세정보를 확인한다</a:t>
              </a:r>
              <a:r>
                <a:rPr lang="en-US" altLang="ko-KR" sz="1400"/>
                <a:t>.</a:t>
              </a:r>
              <a:endParaRPr lang="ko-KR" altLang="en-US" sz="1400"/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F764EDC9-23F4-277A-8207-2FD3D6DFDE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943" y="5657673"/>
            <a:ext cx="10707594" cy="40010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267EA7C-34E9-6FD1-C562-5FC6802F2997}"/>
              </a:ext>
            </a:extLst>
          </p:cNvPr>
          <p:cNvSpPr txBox="1"/>
          <p:nvPr/>
        </p:nvSpPr>
        <p:spPr>
          <a:xfrm>
            <a:off x="707698" y="1737360"/>
            <a:ext cx="322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solidFill>
                  <a:srgbClr val="FF0000"/>
                </a:solidFill>
              </a:rPr>
              <a:t>토픽 생성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D8DA46-2044-BF78-6C6E-166BAF624C98}"/>
              </a:ext>
            </a:extLst>
          </p:cNvPr>
          <p:cNvSpPr txBox="1"/>
          <p:nvPr/>
        </p:nvSpPr>
        <p:spPr>
          <a:xfrm>
            <a:off x="630374" y="3244065"/>
            <a:ext cx="322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solidFill>
                  <a:srgbClr val="FF0000"/>
                </a:solidFill>
              </a:rPr>
              <a:t>토픽 목록 조회 </a:t>
            </a:r>
            <a:r>
              <a:rPr lang="en-US" altLang="ko-KR" b="1">
                <a:solidFill>
                  <a:srgbClr val="FF0000"/>
                </a:solidFill>
              </a:rPr>
              <a:t>/ </a:t>
            </a:r>
            <a:r>
              <a:rPr lang="ko-KR" altLang="en-US" b="1">
                <a:solidFill>
                  <a:srgbClr val="FF0000"/>
                </a:solidFill>
              </a:rPr>
              <a:t>상세조회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B0E5F3-32A0-FB80-D71F-24C9E817F106}"/>
              </a:ext>
            </a:extLst>
          </p:cNvPr>
          <p:cNvSpPr txBox="1"/>
          <p:nvPr/>
        </p:nvSpPr>
        <p:spPr>
          <a:xfrm>
            <a:off x="630374" y="5301681"/>
            <a:ext cx="322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solidFill>
                  <a:srgbClr val="FF0000"/>
                </a:solidFill>
              </a:rPr>
              <a:t>토픽 삭제</a:t>
            </a:r>
          </a:p>
        </p:txBody>
      </p:sp>
    </p:spTree>
    <p:extLst>
      <p:ext uri="{BB962C8B-B14F-4D97-AF65-F5344CB8AC3E}">
        <p14:creationId xmlns:p14="http://schemas.microsoft.com/office/powerpoint/2010/main" val="1097235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DA042-E520-6A41-E98B-D332FE94D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 </a:t>
            </a:r>
            <a:r>
              <a:rPr lang="ko-KR" altLang="en-US"/>
              <a:t>환경에서 </a:t>
            </a:r>
            <a:r>
              <a:rPr lang="en-US" altLang="ko-KR"/>
              <a:t>Topic</a:t>
            </a:r>
            <a:r>
              <a:rPr lang="ko-KR" altLang="en-US"/>
              <a:t>에 메세지 전달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717AA8-28F7-5B21-0116-7F0E7C63C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265" y="1967740"/>
            <a:ext cx="7161527" cy="40933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17088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21813D-92B4-64D4-DCC6-18C7C13AD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Topic</a:t>
            </a:r>
            <a:r>
              <a:rPr lang="ko-KR" altLang="en-US"/>
              <a:t>에 메세지 전달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A92E95-6089-A15F-B65A-AC11DBA28AE5}"/>
              </a:ext>
            </a:extLst>
          </p:cNvPr>
          <p:cNvSpPr txBox="1"/>
          <p:nvPr/>
        </p:nvSpPr>
        <p:spPr>
          <a:xfrm>
            <a:off x="1097280" y="1975104"/>
            <a:ext cx="100584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/>
              <a:t>★</a:t>
            </a:r>
            <a:r>
              <a:rPr lang="en-US" altLang="ko-KR" sz="1400" b="1"/>
              <a:t>kafka</a:t>
            </a:r>
            <a:r>
              <a:rPr lang="ko-KR" altLang="en-US" sz="1400" b="1"/>
              <a:t>는 키</a:t>
            </a:r>
            <a:r>
              <a:rPr lang="en-US" altLang="ko-KR" sz="1400" b="1"/>
              <a:t>-</a:t>
            </a:r>
            <a:r>
              <a:rPr lang="ko-KR" altLang="en-US" sz="1400" b="1"/>
              <a:t>값 쌍으로 메세지를 넣을수도 있고</a:t>
            </a:r>
            <a:r>
              <a:rPr lang="en-US" altLang="ko-KR" sz="1400" b="1"/>
              <a:t>, </a:t>
            </a:r>
            <a:r>
              <a:rPr lang="ko-KR" altLang="en-US" sz="1400" b="1"/>
              <a:t>값만을 메세지로 넣을수 있다</a:t>
            </a:r>
            <a:r>
              <a:rPr lang="en-US" altLang="ko-KR" sz="1400" b="1"/>
              <a:t>.</a:t>
            </a:r>
          </a:p>
          <a:p>
            <a:r>
              <a:rPr lang="ko-KR" altLang="en-US" sz="1400" b="1"/>
              <a:t>    이번 실습으로는 값만을 </a:t>
            </a:r>
            <a:r>
              <a:rPr lang="en-US" altLang="ko-KR" sz="1400" b="1"/>
              <a:t>CLI</a:t>
            </a:r>
            <a:r>
              <a:rPr lang="ko-KR" altLang="en-US" sz="1400" b="1"/>
              <a:t>환경에서 넣는 것을 진행한다</a:t>
            </a:r>
            <a:r>
              <a:rPr lang="en-US" altLang="ko-KR" sz="1400" b="1"/>
              <a:t>.</a:t>
            </a:r>
            <a:br>
              <a:rPr lang="en-US" altLang="ko-KR" sz="1400" b="1">
                <a:solidFill>
                  <a:srgbClr val="FF0000"/>
                </a:solidFill>
              </a:rPr>
            </a:br>
            <a:br>
              <a:rPr lang="en-US" altLang="ko-KR" sz="1400" b="1">
                <a:solidFill>
                  <a:srgbClr val="FF0000"/>
                </a:solidFill>
              </a:rPr>
            </a:br>
            <a:r>
              <a:rPr lang="en-US" altLang="ko-KR" sz="1400" b="1">
                <a:solidFill>
                  <a:srgbClr val="FF0000"/>
                </a:solidFill>
              </a:rPr>
              <a:t>※ Topic</a:t>
            </a:r>
            <a:r>
              <a:rPr lang="ko-KR" altLang="en-US" sz="1400" b="1">
                <a:solidFill>
                  <a:srgbClr val="FF0000"/>
                </a:solidFill>
              </a:rPr>
              <a:t>에 메세지 생성</a:t>
            </a:r>
            <a:r>
              <a:rPr lang="en-US" altLang="ko-KR" sz="1400" b="1">
                <a:solidFill>
                  <a:srgbClr val="FF0000"/>
                </a:solidFill>
              </a:rPr>
              <a:t>(producer)</a:t>
            </a:r>
          </a:p>
          <a:p>
            <a:r>
              <a:rPr lang="en-US" altLang="ko-KR" sz="1400"/>
              <a:t>&gt; ~/kafka_2.13-4.1.2/kafka-console-producer.sh --boopstrap-server localhost:9092 --topic email.send</a:t>
            </a:r>
          </a:p>
          <a:p>
            <a:r>
              <a:rPr lang="en-US" altLang="ko-KR" sz="1400"/>
              <a:t>&gt; hello1</a:t>
            </a:r>
          </a:p>
          <a:p>
            <a:r>
              <a:rPr lang="en-US" altLang="ko-KR" sz="1400"/>
              <a:t>&gt; hello2</a:t>
            </a:r>
          </a:p>
          <a:p>
            <a:r>
              <a:rPr lang="en-US" altLang="ko-KR" sz="1400"/>
              <a:t>&gt; hello3</a:t>
            </a:r>
          </a:p>
          <a:p>
            <a:r>
              <a:rPr lang="en-US" altLang="ko-KR" sz="1400" b="1">
                <a:solidFill>
                  <a:srgbClr val="FF0000"/>
                </a:solidFill>
              </a:rPr>
              <a:t>※ Topic</a:t>
            </a:r>
            <a:r>
              <a:rPr lang="ko-KR" altLang="en-US" sz="1400" b="1">
                <a:solidFill>
                  <a:srgbClr val="FF0000"/>
                </a:solidFill>
              </a:rPr>
              <a:t> 메세지 확인</a:t>
            </a:r>
            <a:r>
              <a:rPr lang="en-US" altLang="ko-KR" sz="1400" b="1">
                <a:solidFill>
                  <a:srgbClr val="FF0000"/>
                </a:solidFill>
              </a:rPr>
              <a:t>(consumer)</a:t>
            </a:r>
          </a:p>
          <a:p>
            <a:r>
              <a:rPr lang="en-US" altLang="ko-KR" sz="1400"/>
              <a:t>&gt; ~/kafka_2.13-4.1.2/kafka-console-consumer.sh –bootstrap-server localhost:9092 –topic email.send --from-beginning</a:t>
            </a:r>
          </a:p>
          <a:p>
            <a:r>
              <a:rPr lang="en-US" altLang="ko-KR" sz="1400"/>
              <a:t>hello1</a:t>
            </a:r>
          </a:p>
          <a:p>
            <a:r>
              <a:rPr lang="en-US" altLang="ko-KR" sz="1400"/>
              <a:t>hello2</a:t>
            </a:r>
          </a:p>
          <a:p>
            <a:r>
              <a:rPr lang="en-US" altLang="ko-KR" sz="1400"/>
              <a:t>hello3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011326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A43374-B157-6608-10D6-86EDDF0D5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Kafka</a:t>
            </a:r>
            <a:r>
              <a:rPr lang="ko-KR" altLang="en-US"/>
              <a:t>와 </a:t>
            </a:r>
            <a:r>
              <a:rPr lang="en-US" altLang="ko-KR"/>
              <a:t>RabbitMQ	</a:t>
            </a:r>
            <a:r>
              <a:rPr lang="ko-KR" altLang="en-US"/>
              <a:t>의 차이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FBB0001-C94B-C67D-C7BD-DC5BE6B6B9C3}"/>
              </a:ext>
            </a:extLst>
          </p:cNvPr>
          <p:cNvGrpSpPr/>
          <p:nvPr/>
        </p:nvGrpSpPr>
        <p:grpSpPr>
          <a:xfrm>
            <a:off x="2766789" y="1991324"/>
            <a:ext cx="7341173" cy="4057973"/>
            <a:chOff x="2766789" y="1991324"/>
            <a:chExt cx="7341173" cy="4057973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2DB3E5C7-329C-97A5-A23C-12134C8AEB91}"/>
                </a:ext>
              </a:extLst>
            </p:cNvPr>
            <p:cNvGrpSpPr/>
            <p:nvPr/>
          </p:nvGrpSpPr>
          <p:grpSpPr>
            <a:xfrm>
              <a:off x="2766789" y="1991324"/>
              <a:ext cx="7341173" cy="4057973"/>
              <a:chOff x="2766789" y="1991324"/>
              <a:chExt cx="7341173" cy="4057973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1A82DE72-5953-047C-3C31-02F6488ECCCD}"/>
                  </a:ext>
                </a:extLst>
              </p:cNvPr>
              <p:cNvGrpSpPr/>
              <p:nvPr/>
            </p:nvGrpSpPr>
            <p:grpSpPr>
              <a:xfrm>
                <a:off x="2766789" y="1991324"/>
                <a:ext cx="7341173" cy="4057973"/>
                <a:chOff x="2766789" y="1991324"/>
                <a:chExt cx="7341173" cy="4057973"/>
              </a:xfrm>
            </p:grpSpPr>
            <p:pic>
              <p:nvPicPr>
                <p:cNvPr id="4" name="그림 3">
                  <a:extLst>
                    <a:ext uri="{FF2B5EF4-FFF2-40B4-BE49-F238E27FC236}">
                      <a16:creationId xmlns:a16="http://schemas.microsoft.com/office/drawing/2014/main" id="{A4051251-D03D-05DB-2368-F04F7A6498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766789" y="1991324"/>
                  <a:ext cx="7341173" cy="4057973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</p:pic>
            <p:sp>
              <p:nvSpPr>
                <p:cNvPr id="5" name="직사각형 4">
                  <a:extLst>
                    <a:ext uri="{FF2B5EF4-FFF2-40B4-BE49-F238E27FC236}">
                      <a16:creationId xmlns:a16="http://schemas.microsoft.com/office/drawing/2014/main" id="{B49FCF12-2950-4935-996B-17BF5DFDE282}"/>
                    </a:ext>
                  </a:extLst>
                </p:cNvPr>
                <p:cNvSpPr/>
                <p:nvPr/>
              </p:nvSpPr>
              <p:spPr>
                <a:xfrm>
                  <a:off x="2862072" y="2368296"/>
                  <a:ext cx="4910328" cy="228600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9B46EDDF-5C2D-FCB0-F933-31DB2C2CF42F}"/>
                  </a:ext>
                </a:extLst>
              </p:cNvPr>
              <p:cNvSpPr/>
              <p:nvPr/>
            </p:nvSpPr>
            <p:spPr>
              <a:xfrm>
                <a:off x="8869680" y="2368296"/>
                <a:ext cx="1112520" cy="22860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C07BCEC-1F16-64DF-64C1-C94E79DC6AA1}"/>
                </a:ext>
              </a:extLst>
            </p:cNvPr>
            <p:cNvSpPr/>
            <p:nvPr/>
          </p:nvSpPr>
          <p:spPr>
            <a:xfrm>
              <a:off x="2862072" y="2558796"/>
              <a:ext cx="4818888" cy="2286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3209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B3A7A8-1387-4DDE-389A-D9805DBF9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400"/>
              <a:t>CLI</a:t>
            </a:r>
            <a:r>
              <a:rPr lang="ko-KR" altLang="en-US" sz="4400"/>
              <a:t>환경 </a:t>
            </a:r>
            <a:r>
              <a:rPr lang="en-US" altLang="ko-KR" sz="4400"/>
              <a:t>consumer</a:t>
            </a:r>
            <a:r>
              <a:rPr lang="ko-KR" altLang="en-US" sz="4400"/>
              <a:t>의 동작</a:t>
            </a:r>
            <a:r>
              <a:rPr lang="en-US" altLang="ko-KR" sz="4400"/>
              <a:t>(</a:t>
            </a:r>
            <a:r>
              <a:rPr lang="ko-KR" altLang="en-US" sz="4400"/>
              <a:t>실시간 확인</a:t>
            </a:r>
            <a:r>
              <a:rPr lang="en-US" altLang="ko-KR" sz="4400"/>
              <a:t>)</a:t>
            </a:r>
            <a:endParaRPr lang="ko-KR" altLang="en-US" sz="440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371FFDE-F7E9-1B18-50C8-5DAAD4F3AE57}"/>
              </a:ext>
            </a:extLst>
          </p:cNvPr>
          <p:cNvGrpSpPr/>
          <p:nvPr/>
        </p:nvGrpSpPr>
        <p:grpSpPr>
          <a:xfrm>
            <a:off x="844296" y="1780894"/>
            <a:ext cx="10764752" cy="1882419"/>
            <a:chOff x="831712" y="1915913"/>
            <a:chExt cx="10764752" cy="1882419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84C2A1A-94E2-93D6-8FA4-CCFB20EA3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1712" y="1915913"/>
              <a:ext cx="10764752" cy="1476581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F69A774-8D56-52FC-D7C9-B19E5A54C5BF}"/>
                </a:ext>
              </a:extLst>
            </p:cNvPr>
            <p:cNvSpPr txBox="1"/>
            <p:nvPr/>
          </p:nvSpPr>
          <p:spPr>
            <a:xfrm>
              <a:off x="844296" y="3429000"/>
              <a:ext cx="5364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브라우저 </a:t>
              </a:r>
              <a:r>
                <a:rPr lang="en-US" altLang="ko-KR"/>
                <a:t>1 – producer</a:t>
              </a:r>
              <a:r>
                <a:rPr lang="ko-KR" altLang="en-US"/>
                <a:t> 실행</a:t>
              </a:r>
              <a:r>
                <a:rPr lang="en-US" altLang="ko-KR"/>
                <a:t>(</a:t>
              </a:r>
              <a:r>
                <a:rPr lang="ko-KR" altLang="en-US"/>
                <a:t>콘솔입력</a:t>
              </a:r>
              <a:r>
                <a:rPr lang="en-US" altLang="ko-KR"/>
                <a:t>)</a:t>
              </a:r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8CDF75F-CF5F-2192-7088-6303FF5D8E19}"/>
              </a:ext>
            </a:extLst>
          </p:cNvPr>
          <p:cNvGrpSpPr/>
          <p:nvPr/>
        </p:nvGrpSpPr>
        <p:grpSpPr>
          <a:xfrm>
            <a:off x="856880" y="3996069"/>
            <a:ext cx="10576952" cy="1777365"/>
            <a:chOff x="831712" y="4151517"/>
            <a:chExt cx="10576952" cy="177736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490EB56-BEDA-8958-54AC-408CBFB7E1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4296" y="4151517"/>
              <a:ext cx="10564368" cy="140803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0EBADF2-24C6-5B01-4BFB-3CF5A852BB7F}"/>
                </a:ext>
              </a:extLst>
            </p:cNvPr>
            <p:cNvSpPr txBox="1"/>
            <p:nvPr/>
          </p:nvSpPr>
          <p:spPr>
            <a:xfrm>
              <a:off x="831712" y="5559550"/>
              <a:ext cx="5364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브라우저 </a:t>
              </a:r>
              <a:r>
                <a:rPr lang="en-US" altLang="ko-KR"/>
                <a:t>2– consumer</a:t>
              </a:r>
              <a:r>
                <a:rPr lang="ko-KR" altLang="en-US"/>
                <a:t>실행</a:t>
              </a:r>
              <a:r>
                <a:rPr lang="en-US" altLang="ko-KR"/>
                <a:t>(</a:t>
              </a:r>
              <a:r>
                <a:rPr lang="ko-KR" altLang="en-US"/>
                <a:t>모니터링</a:t>
              </a:r>
              <a:r>
                <a:rPr lang="en-US" altLang="ko-KR"/>
                <a:t>)</a:t>
              </a:r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8E86DB2-BF4F-EEDF-1327-53E6FF9C063F}"/>
              </a:ext>
            </a:extLst>
          </p:cNvPr>
          <p:cNvSpPr txBox="1"/>
          <p:nvPr/>
        </p:nvSpPr>
        <p:spPr>
          <a:xfrm>
            <a:off x="893652" y="5773434"/>
            <a:ext cx="10655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※ Producer</a:t>
            </a:r>
            <a:r>
              <a:rPr lang="ko-KR" altLang="en-US" sz="1400"/>
              <a:t>에서 </a:t>
            </a:r>
            <a:r>
              <a:rPr lang="en-US" altLang="ko-KR" sz="1400"/>
              <a:t>email.send topic</a:t>
            </a:r>
            <a:r>
              <a:rPr lang="ko-KR" altLang="en-US" sz="1400"/>
              <a:t>에 메세지를 저장하면</a:t>
            </a:r>
            <a:br>
              <a:rPr lang="en-US" altLang="ko-KR" sz="1400"/>
            </a:br>
            <a:r>
              <a:rPr lang="en-US" altLang="ko-KR" sz="1400"/>
              <a:t>     </a:t>
            </a:r>
            <a:r>
              <a:rPr lang="ko-KR" altLang="en-US" sz="1400"/>
              <a:t>실행 중인 </a:t>
            </a:r>
            <a:r>
              <a:rPr lang="en-US" altLang="ko-KR" sz="1400"/>
              <a:t>Consumer </a:t>
            </a:r>
            <a:r>
              <a:rPr lang="ko-KR" altLang="en-US" sz="1400"/>
              <a:t>에 실시간으로 해당 메세지가 출력되는걸 확인할 수 있다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8483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E1E5E2-B9BE-163D-378F-5AF5609A1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producer</a:t>
            </a:r>
            <a:r>
              <a:rPr lang="ko-KR" altLang="en-US" sz="4000"/>
              <a:t>의 빈 값입력</a:t>
            </a:r>
            <a:r>
              <a:rPr lang="en-US" altLang="ko-KR" sz="4000"/>
              <a:t>(</a:t>
            </a:r>
            <a:r>
              <a:rPr lang="ko-KR" altLang="en-US" sz="4000"/>
              <a:t>번외</a:t>
            </a:r>
            <a:r>
              <a:rPr lang="en-US" altLang="ko-KR" sz="4000"/>
              <a:t>[</a:t>
            </a:r>
            <a:r>
              <a:rPr lang="ko-KR" altLang="en-US" sz="4000"/>
              <a:t>강의 내용</a:t>
            </a:r>
            <a:r>
              <a:rPr lang="en-US" altLang="ko-KR" sz="4000"/>
              <a:t>X])</a:t>
            </a:r>
            <a:endParaRPr lang="ko-KR" altLang="en-US" sz="40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141BFFE-03AC-6D01-8496-4C01B4970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19" y="2018084"/>
            <a:ext cx="10802858" cy="104789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BD19AC9-6FA3-7CA5-BCE1-44707B015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19" y="3346704"/>
            <a:ext cx="10802858" cy="11120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65B11E-48F6-70B0-22E3-E34D8E2AEBE3}"/>
              </a:ext>
            </a:extLst>
          </p:cNvPr>
          <p:cNvSpPr txBox="1"/>
          <p:nvPr/>
        </p:nvSpPr>
        <p:spPr>
          <a:xfrm>
            <a:off x="621419" y="4581144"/>
            <a:ext cx="108028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프로듀서 입력에 빈 문자열을 </a:t>
            </a:r>
            <a:r>
              <a:rPr lang="en-US" altLang="ko-KR" sz="1400"/>
              <a:t>Enter</a:t>
            </a:r>
            <a:r>
              <a:rPr lang="ko-KR" altLang="en-US" sz="1400"/>
              <a:t>로 두 번 넣었는데</a:t>
            </a:r>
            <a:r>
              <a:rPr lang="en-US" altLang="ko-KR" sz="1400"/>
              <a:t>, consumer</a:t>
            </a:r>
            <a:r>
              <a:rPr lang="ko-KR" altLang="en-US" sz="1400"/>
              <a:t>에 빈 문자열도 목록상 보이는걸로 봐서</a:t>
            </a:r>
            <a:endParaRPr lang="en-US" altLang="ko-KR" sz="1400"/>
          </a:p>
          <a:p>
            <a:r>
              <a:rPr lang="en-US" altLang="ko-KR" sz="1400"/>
              <a:t>kafka</a:t>
            </a:r>
            <a:r>
              <a:rPr lang="ko-KR" altLang="en-US" sz="1400"/>
              <a:t>는 빈 값도 값 취급을 함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415468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F73C3D-A0C7-3142-228C-5B9E90B01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컨슈머 그룹에 의한 </a:t>
            </a:r>
            <a:r>
              <a:rPr lang="en-US" altLang="ko-KR"/>
              <a:t>offset </a:t>
            </a:r>
            <a:r>
              <a:rPr lang="ko-KR" altLang="en-US"/>
              <a:t>개념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DE39FCD-B53D-957B-1702-29D85A87B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71" y="1909736"/>
            <a:ext cx="6522594" cy="48510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95898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91A823-5DC3-5F7D-F4DE-F89A98078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264" y="286603"/>
            <a:ext cx="10561320" cy="1450757"/>
          </a:xfrm>
        </p:spPr>
        <p:txBody>
          <a:bodyPr>
            <a:normAutofit/>
          </a:bodyPr>
          <a:lstStyle/>
          <a:p>
            <a:r>
              <a:rPr lang="ko-KR" altLang="en-US" sz="2800"/>
              <a:t>메세지를 어디까지 읽었는지 기억하고 그 다음메세지 부터 처리하기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6336F8-06FE-14ED-7C47-DA40910F8328}"/>
              </a:ext>
            </a:extLst>
          </p:cNvPr>
          <p:cNvSpPr txBox="1"/>
          <p:nvPr/>
        </p:nvSpPr>
        <p:spPr>
          <a:xfrm>
            <a:off x="969264" y="1929383"/>
            <a:ext cx="10451592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/>
              <a:t>컨슈머 그룹 지정하기</a:t>
            </a:r>
            <a:endParaRPr lang="en-US" altLang="ko-KR" sz="1400" b="1"/>
          </a:p>
          <a:p>
            <a:r>
              <a:rPr lang="en-US" altLang="ko-KR" sz="1200"/>
              <a:t>~/kafka</a:t>
            </a:r>
            <a:r>
              <a:rPr lang="ko-KR" altLang="en-US" sz="1200"/>
              <a:t>폴더 </a:t>
            </a:r>
            <a:r>
              <a:rPr lang="en-US" altLang="ko-KR" sz="1200"/>
              <a:t>&gt; bin/kafka-console-consumer.sh --bootstrap-server localhost:9092 --topic email.send --from-beginning --group  email-send-group</a:t>
            </a:r>
          </a:p>
          <a:p>
            <a:endParaRPr lang="en-US" altLang="ko-KR" sz="1200">
              <a:sym typeface="Wingdings" panose="05000000000000000000" pitchFamily="2" charset="2"/>
            </a:endParaRPr>
          </a:p>
          <a:p>
            <a:r>
              <a:rPr lang="ko-KR" altLang="en-US" sz="1200">
                <a:sym typeface="Wingdings" panose="05000000000000000000" pitchFamily="2" charset="2"/>
              </a:rPr>
              <a:t>명령어 해석 </a:t>
            </a:r>
            <a:r>
              <a:rPr lang="en-US" altLang="ko-KR" sz="1200">
                <a:sym typeface="Wingdings" panose="05000000000000000000" pitchFamily="2" charset="2"/>
              </a:rPr>
              <a:t> 1. </a:t>
            </a:r>
            <a:r>
              <a:rPr lang="ko-KR" altLang="en-US" sz="1200">
                <a:sym typeface="Wingdings" panose="05000000000000000000" pitchFamily="2" charset="2"/>
              </a:rPr>
              <a:t>컨슈머 그룹을 </a:t>
            </a:r>
            <a:r>
              <a:rPr lang="en-US" altLang="ko-KR" sz="1200">
                <a:sym typeface="Wingdings" panose="05000000000000000000" pitchFamily="2" charset="2"/>
              </a:rPr>
              <a:t>email-send-group </a:t>
            </a:r>
            <a:r>
              <a:rPr lang="ko-KR" altLang="en-US" sz="1200">
                <a:sym typeface="Wingdings" panose="05000000000000000000" pitchFamily="2" charset="2"/>
              </a:rPr>
              <a:t>이라는 그룹명으로 설정 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 		   2. --from-beginning </a:t>
            </a:r>
            <a:r>
              <a:rPr lang="ko-KR" altLang="en-US" sz="1200">
                <a:sym typeface="Wingdings" panose="05000000000000000000" pitchFamily="2" charset="2"/>
              </a:rPr>
              <a:t>옵션은 컨슈머그룹의 </a:t>
            </a:r>
            <a:r>
              <a:rPr lang="en-US" altLang="ko-KR" sz="1200">
                <a:sym typeface="Wingdings" panose="05000000000000000000" pitchFamily="2" charset="2"/>
              </a:rPr>
              <a:t>offset</a:t>
            </a:r>
            <a:r>
              <a:rPr lang="ko-KR" altLang="en-US" sz="1200">
                <a:sym typeface="Wingdings" panose="05000000000000000000" pitchFamily="2" charset="2"/>
              </a:rPr>
              <a:t>이 없다면 </a:t>
            </a:r>
            <a:r>
              <a:rPr lang="en-US" altLang="ko-KR" sz="1200">
                <a:sym typeface="Wingdings" panose="05000000000000000000" pitchFamily="2" charset="2"/>
              </a:rPr>
              <a:t>(</a:t>
            </a:r>
            <a:r>
              <a:rPr lang="ko-KR" altLang="en-US" sz="1200">
                <a:sym typeface="Wingdings" panose="05000000000000000000" pitchFamily="2" charset="2"/>
              </a:rPr>
              <a:t>컨슈머그룹을 처음만든 상태</a:t>
            </a:r>
            <a:r>
              <a:rPr lang="en-US" altLang="ko-KR" sz="1200">
                <a:sym typeface="Wingdings" panose="05000000000000000000" pitchFamily="2" charset="2"/>
              </a:rPr>
              <a:t>) </a:t>
            </a:r>
            <a:r>
              <a:rPr lang="ko-KR" altLang="en-US" sz="1200">
                <a:sym typeface="Wingdings" panose="05000000000000000000" pitchFamily="2" charset="2"/>
              </a:rPr>
              <a:t>처음부터 메세지를 끝까지 읽어들이겠다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                             3. --from-beginning </a:t>
            </a:r>
            <a:r>
              <a:rPr lang="ko-KR" altLang="en-US" sz="1200">
                <a:sym typeface="Wingdings" panose="05000000000000000000" pitchFamily="2" charset="2"/>
              </a:rPr>
              <a:t>에서 </a:t>
            </a:r>
            <a:r>
              <a:rPr lang="en-US" altLang="ko-KR" sz="1200">
                <a:sym typeface="Wingdings" panose="05000000000000000000" pitchFamily="2" charset="2"/>
              </a:rPr>
              <a:t>offset</a:t>
            </a:r>
            <a:r>
              <a:rPr lang="ko-KR" altLang="en-US" sz="1200">
                <a:sym typeface="Wingdings" panose="05000000000000000000" pitchFamily="2" charset="2"/>
              </a:rPr>
              <a:t>이 있다면</a:t>
            </a:r>
            <a:r>
              <a:rPr lang="en-US" altLang="ko-KR" sz="1200">
                <a:sym typeface="Wingdings" panose="05000000000000000000" pitchFamily="2" charset="2"/>
              </a:rPr>
              <a:t> </a:t>
            </a:r>
            <a:r>
              <a:rPr lang="ko-KR" altLang="en-US" sz="1200">
                <a:sym typeface="Wingdings" panose="05000000000000000000" pitchFamily="2" charset="2"/>
              </a:rPr>
              <a:t>처음부터가 아닌 </a:t>
            </a:r>
            <a:r>
              <a:rPr lang="en-US" altLang="ko-KR" sz="1200">
                <a:sym typeface="Wingdings" panose="05000000000000000000" pitchFamily="2" charset="2"/>
              </a:rPr>
              <a:t>offset </a:t>
            </a:r>
            <a:r>
              <a:rPr lang="ko-KR" altLang="en-US" sz="1200">
                <a:sym typeface="Wingdings" panose="05000000000000000000" pitchFamily="2" charset="2"/>
              </a:rPr>
              <a:t>번호부터 읽어들이겠다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</a:p>
          <a:p>
            <a:endParaRPr lang="en-US" altLang="ko-KR" sz="1200">
              <a:sym typeface="Wingdings" panose="05000000000000000000" pitchFamily="2" charset="2"/>
            </a:endParaRPr>
          </a:p>
          <a:p>
            <a:r>
              <a:rPr lang="ko-KR" altLang="en-US" sz="1400" b="1"/>
              <a:t>컨슈머 그룹 확인하기</a:t>
            </a:r>
            <a:endParaRPr lang="en-US" altLang="ko-KR" sz="1400" b="1"/>
          </a:p>
          <a:p>
            <a:r>
              <a:rPr lang="en-US" altLang="ko-KR" sz="1200"/>
              <a:t>~/kafka</a:t>
            </a:r>
            <a:r>
              <a:rPr lang="ko-KR" altLang="en-US" sz="1200"/>
              <a:t>폴더 </a:t>
            </a:r>
            <a:r>
              <a:rPr lang="en-US" altLang="ko-KR" sz="1200"/>
              <a:t>&gt; bin/kafka-consumer-group.sh --bootstrap-server localhost:9092 --list (</a:t>
            </a:r>
            <a:r>
              <a:rPr lang="ko-KR" altLang="en-US" sz="1200"/>
              <a:t>컨슈머 그룹 목록 확인</a:t>
            </a:r>
            <a:r>
              <a:rPr lang="en-US" altLang="ko-KR" sz="1200"/>
              <a:t>)</a:t>
            </a:r>
          </a:p>
          <a:p>
            <a:r>
              <a:rPr lang="en-US" altLang="ko-KR" sz="1200"/>
              <a:t>~/kafka</a:t>
            </a:r>
            <a:r>
              <a:rPr lang="ko-KR" altLang="en-US" sz="1200"/>
              <a:t>폴더 </a:t>
            </a:r>
            <a:r>
              <a:rPr lang="en-US" altLang="ko-KR" sz="1200"/>
              <a:t>&gt; bin/kafka-consumer-group.sh --bootstrap-server localhost:9092 --group email-send-group --describe (</a:t>
            </a:r>
            <a:r>
              <a:rPr lang="ko-KR" altLang="en-US" sz="1200"/>
              <a:t>컨슈머 그룹 상세 정보 확인</a:t>
            </a:r>
            <a:r>
              <a:rPr lang="en-US" altLang="ko-KR" sz="1200"/>
              <a:t>)</a:t>
            </a:r>
            <a:br>
              <a:rPr lang="en-US" altLang="ko-KR" sz="1200"/>
            </a:br>
            <a:br>
              <a:rPr lang="en-US" altLang="ko-KR" sz="1200"/>
            </a:br>
            <a:r>
              <a:rPr lang="ko-KR" altLang="en-US" sz="1200"/>
              <a:t>컨슈머 그룹 삭제</a:t>
            </a:r>
            <a:endParaRPr lang="en-US" altLang="ko-KR" sz="1200"/>
          </a:p>
          <a:p>
            <a:r>
              <a:rPr lang="en-US" altLang="ko-KR" sz="1200"/>
              <a:t>~/kafka</a:t>
            </a:r>
            <a:r>
              <a:rPr lang="ko-KR" altLang="en-US" sz="1200"/>
              <a:t>폴더 </a:t>
            </a:r>
            <a:r>
              <a:rPr lang="en-US" altLang="ko-KR" sz="1200"/>
              <a:t>&gt; bin/kafka-consumer-group.sh --bootstrap-server localhost:9092 --delete --group email-send-group</a:t>
            </a:r>
          </a:p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008312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63DF3C-F9D5-D0E9-A257-4960D604D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실습 시나리오 확인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16D56A8-46AC-938C-5FE8-DC0BD0C82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41" y="3815862"/>
            <a:ext cx="11864718" cy="63026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3C4B850-8573-E57E-037B-CC0E22573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41" y="4947729"/>
            <a:ext cx="11864718" cy="1014866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F5B8073E-62F4-BA2E-9D96-6395EF534BDF}"/>
              </a:ext>
            </a:extLst>
          </p:cNvPr>
          <p:cNvGrpSpPr/>
          <p:nvPr/>
        </p:nvGrpSpPr>
        <p:grpSpPr>
          <a:xfrm>
            <a:off x="739340" y="1888602"/>
            <a:ext cx="10774279" cy="517356"/>
            <a:chOff x="739340" y="1888602"/>
            <a:chExt cx="10774279" cy="51735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795542D-02EB-71BB-E55D-B20641E78A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9340" y="1888602"/>
              <a:ext cx="10774279" cy="209579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8EBB072-923B-ED18-4981-2E6E9365EF17}"/>
                </a:ext>
              </a:extLst>
            </p:cNvPr>
            <p:cNvSpPr txBox="1"/>
            <p:nvPr/>
          </p:nvSpPr>
          <p:spPr>
            <a:xfrm>
              <a:off x="739340" y="2098181"/>
              <a:ext cx="63289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/>
                <a:t>1. topic </a:t>
              </a:r>
              <a:r>
                <a:rPr lang="ko-KR" altLang="en-US" sz="1400"/>
                <a:t>생성 </a:t>
              </a:r>
              <a:r>
                <a:rPr lang="en-US" altLang="ko-KR" sz="1400"/>
                <a:t>(email.send)</a:t>
              </a:r>
              <a:endParaRPr lang="ko-KR" altLang="en-US" sz="1400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3E05446-68B6-4AE7-2B10-9D26A8F45A40}"/>
              </a:ext>
            </a:extLst>
          </p:cNvPr>
          <p:cNvGrpSpPr/>
          <p:nvPr/>
        </p:nvGrpSpPr>
        <p:grpSpPr>
          <a:xfrm>
            <a:off x="710760" y="2599784"/>
            <a:ext cx="10831437" cy="1017997"/>
            <a:chOff x="739340" y="2581897"/>
            <a:chExt cx="10831437" cy="101799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70F8BC3-22A2-722E-8792-FF7A589FD3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9340" y="2581897"/>
              <a:ext cx="10831437" cy="714475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B5B7DB-A417-2019-8F68-A96EE396EB48}"/>
                </a:ext>
              </a:extLst>
            </p:cNvPr>
            <p:cNvSpPr txBox="1"/>
            <p:nvPr/>
          </p:nvSpPr>
          <p:spPr>
            <a:xfrm>
              <a:off x="739340" y="3292117"/>
              <a:ext cx="609447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/>
                <a:t>2. producer topic(email.send) </a:t>
              </a:r>
              <a:r>
                <a:rPr lang="ko-KR" altLang="en-US" sz="1400"/>
                <a:t>메세지 저장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3FFB665-8AB7-06A7-A57D-FB6B1DC15141}"/>
              </a:ext>
            </a:extLst>
          </p:cNvPr>
          <p:cNvSpPr txBox="1"/>
          <p:nvPr/>
        </p:nvSpPr>
        <p:spPr>
          <a:xfrm>
            <a:off x="163640" y="4446126"/>
            <a:ext cx="90626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/>
              <a:t>3. consumer</a:t>
            </a:r>
            <a:r>
              <a:rPr lang="ko-KR" altLang="en-US" sz="1400"/>
              <a:t>에서 컨슈머 그룹명 지정 및 처음부터 메세지 조회 </a:t>
            </a:r>
            <a:r>
              <a:rPr lang="en-US" altLang="ko-KR" sz="1400"/>
              <a:t>(offset </a:t>
            </a:r>
            <a:r>
              <a:rPr lang="ko-KR" altLang="en-US" sz="1400"/>
              <a:t>초기화</a:t>
            </a:r>
            <a:r>
              <a:rPr lang="en-US" altLang="ko-KR" sz="1400"/>
              <a:t>=3)</a:t>
            </a:r>
            <a:endParaRPr lang="ko-KR" altLang="en-US" sz="14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41F0D1-412A-7BEE-6846-2A29E1DBA57C}"/>
              </a:ext>
            </a:extLst>
          </p:cNvPr>
          <p:cNvSpPr txBox="1"/>
          <p:nvPr/>
        </p:nvSpPr>
        <p:spPr>
          <a:xfrm>
            <a:off x="163639" y="5962595"/>
            <a:ext cx="90626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/>
              <a:t>4. consumer </a:t>
            </a:r>
            <a:r>
              <a:rPr lang="ko-KR" altLang="en-US" sz="1400"/>
              <a:t>그룹</a:t>
            </a:r>
            <a:r>
              <a:rPr lang="en-US" altLang="ko-KR" sz="1400"/>
              <a:t>(send-email-group)</a:t>
            </a:r>
            <a:r>
              <a:rPr lang="ko-KR" altLang="en-US" sz="1400"/>
              <a:t>의 상세정보 확인 </a:t>
            </a:r>
            <a:r>
              <a:rPr lang="en-US" altLang="ko-KR" sz="1400"/>
              <a:t>(current-offset =3)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98366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6D935C-2B26-FF0C-BCA8-BE51A70B5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실습 시나리오 확인</a:t>
            </a:r>
            <a:r>
              <a:rPr lang="en-US" altLang="ko-KR"/>
              <a:t>(2)</a:t>
            </a:r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621BC52-9B0F-14A6-9D55-D7B4D980348C}"/>
              </a:ext>
            </a:extLst>
          </p:cNvPr>
          <p:cNvGrpSpPr/>
          <p:nvPr/>
        </p:nvGrpSpPr>
        <p:grpSpPr>
          <a:xfrm>
            <a:off x="723150" y="1970959"/>
            <a:ext cx="10745700" cy="736462"/>
            <a:chOff x="723150" y="1970959"/>
            <a:chExt cx="10745700" cy="73646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94B39DCB-B0A7-58C6-F03D-419CC79F4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150" y="1970959"/>
              <a:ext cx="10745700" cy="42868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0452FC-C12D-4B0E-2D9F-F35B44733E6B}"/>
                </a:ext>
              </a:extLst>
            </p:cNvPr>
            <p:cNvSpPr txBox="1"/>
            <p:nvPr/>
          </p:nvSpPr>
          <p:spPr>
            <a:xfrm>
              <a:off x="723150" y="2399644"/>
              <a:ext cx="609447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/>
                <a:t>5. producer</a:t>
              </a:r>
              <a:r>
                <a:rPr lang="ko-KR" altLang="en-US" sz="1400"/>
                <a:t>를 통해 </a:t>
              </a:r>
              <a:r>
                <a:rPr lang="en-US" altLang="ko-KR" sz="1400"/>
                <a:t>email.send </a:t>
              </a:r>
              <a:r>
                <a:rPr lang="ko-KR" altLang="en-US" sz="1400"/>
                <a:t>토픽에 신규 메세지 저장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420A6EA-8FFF-AF1F-54D8-583D927408B6}"/>
              </a:ext>
            </a:extLst>
          </p:cNvPr>
          <p:cNvGrpSpPr/>
          <p:nvPr/>
        </p:nvGrpSpPr>
        <p:grpSpPr>
          <a:xfrm>
            <a:off x="163640" y="3086286"/>
            <a:ext cx="11864719" cy="773828"/>
            <a:chOff x="163640" y="3086286"/>
            <a:chExt cx="11864719" cy="77382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E09641A-66D4-4D36-D980-07907746A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3640" y="3086286"/>
              <a:ext cx="11864719" cy="39496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F35CF08-D7B4-C3C8-9E8E-1E5D89806F45}"/>
                </a:ext>
              </a:extLst>
            </p:cNvPr>
            <p:cNvSpPr txBox="1"/>
            <p:nvPr/>
          </p:nvSpPr>
          <p:spPr>
            <a:xfrm>
              <a:off x="163640" y="3552337"/>
              <a:ext cx="748074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/>
                <a:t>6. consumer </a:t>
              </a:r>
              <a:r>
                <a:rPr lang="ko-KR" altLang="en-US" sz="1400"/>
                <a:t>의 컨슈머 그룹 </a:t>
              </a:r>
              <a:r>
                <a:rPr lang="en-US" altLang="ko-KR" sz="1400"/>
                <a:t>- email.send</a:t>
              </a:r>
              <a:r>
                <a:rPr lang="ko-KR" altLang="en-US" sz="1400"/>
                <a:t> 토픽의 </a:t>
              </a:r>
              <a:r>
                <a:rPr lang="en-US" altLang="ko-KR" sz="1400"/>
                <a:t>offset </a:t>
              </a:r>
              <a:r>
                <a:rPr lang="ko-KR" altLang="en-US" sz="1400"/>
                <a:t>에 해당하는 메세지 확인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D3441E3-AD9F-442C-E039-FF826477073E}"/>
              </a:ext>
            </a:extLst>
          </p:cNvPr>
          <p:cNvGrpSpPr/>
          <p:nvPr/>
        </p:nvGrpSpPr>
        <p:grpSpPr>
          <a:xfrm>
            <a:off x="163639" y="4233672"/>
            <a:ext cx="11864720" cy="1363654"/>
            <a:chOff x="163640" y="4562856"/>
            <a:chExt cx="11864720" cy="1363654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32A902D-9E08-40EA-77C8-A5CA9B84ED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3640" y="4562856"/>
              <a:ext cx="11864720" cy="1055877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AA2618A-30BB-75FC-EC0E-611A8EF9C8F1}"/>
                </a:ext>
              </a:extLst>
            </p:cNvPr>
            <p:cNvSpPr txBox="1"/>
            <p:nvPr/>
          </p:nvSpPr>
          <p:spPr>
            <a:xfrm>
              <a:off x="163640" y="5618733"/>
              <a:ext cx="609447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/>
                <a:t>7. consumer </a:t>
              </a:r>
              <a:r>
                <a:rPr lang="ko-KR" altLang="en-US" sz="1400"/>
                <a:t>의 컨슈머 그룹 상세정보 확인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6476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B51DA0-672B-FD92-33DA-DCAAB0A47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토픽 </a:t>
            </a:r>
            <a:r>
              <a:rPr lang="en-US" altLang="ko-KR" sz="3600"/>
              <a:t>/ </a:t>
            </a:r>
            <a:r>
              <a:rPr lang="ko-KR" altLang="en-US" sz="3600"/>
              <a:t>컨슈머 그룹 네이밍 컨벤션 참고자료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326485-3587-BE20-62F9-A7383DA9F670}"/>
              </a:ext>
            </a:extLst>
          </p:cNvPr>
          <p:cNvSpPr txBox="1"/>
          <p:nvPr/>
        </p:nvSpPr>
        <p:spPr>
          <a:xfrm>
            <a:off x="1097280" y="1881878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hlinkClick r:id="rId2"/>
              </a:rPr>
              <a:t>https://data-engineer-tech.tistory.com/36</a:t>
            </a:r>
            <a:endParaRPr lang="en-US" altLang="ko-KR"/>
          </a:p>
          <a:p>
            <a:r>
              <a:rPr lang="en-US" altLang="ko-KR">
                <a:hlinkClick r:id="rId3"/>
              </a:rPr>
              <a:t>https://digitalbourgeois.tistory.com/269#google_vignette</a:t>
            </a:r>
            <a:endParaRPr lang="en-US" altLang="ko-KR"/>
          </a:p>
          <a:p>
            <a:r>
              <a:rPr lang="ko-KR" altLang="en-US" b="1" u="sng">
                <a:hlinkClick r:id="rId4"/>
              </a:rPr>
              <a:t>카프카 토픽 이름 정하기 </a:t>
            </a:r>
            <a:r>
              <a:rPr lang="en-US" altLang="ko-KR" b="1" u="sng">
                <a:hlinkClick r:id="rId4"/>
              </a:rPr>
              <a:t>(Kafka Topic Naming Conventions)</a:t>
            </a:r>
            <a:endParaRPr lang="en-US" altLang="ko-KR" b="1" u="sng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008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31E1A-15FF-BC8C-03D1-6EC05F7D0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Spring Boot Kafka</a:t>
            </a:r>
            <a:r>
              <a:rPr lang="ko-KR" altLang="en-US" sz="4000"/>
              <a:t>애플리케이션 생성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77A0F50-2C64-E11C-0B9D-294B54F51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723" y="1874520"/>
            <a:ext cx="9525513" cy="421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354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301AB7-C395-BC2D-A784-310647881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SpringBoot Application.yml </a:t>
            </a:r>
            <a:r>
              <a:rPr lang="ko-KR" altLang="en-US" sz="4000"/>
              <a:t>에 </a:t>
            </a:r>
            <a:r>
              <a:rPr lang="en-US" altLang="ko-KR" sz="4000"/>
              <a:t>kafka </a:t>
            </a:r>
            <a:r>
              <a:rPr lang="ko-KR" altLang="en-US" sz="4000"/>
              <a:t>설정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BDCECF7-4046-3559-7511-DD16C8B2F1B0}"/>
              </a:ext>
            </a:extLst>
          </p:cNvPr>
          <p:cNvGrpSpPr/>
          <p:nvPr/>
        </p:nvGrpSpPr>
        <p:grpSpPr>
          <a:xfrm>
            <a:off x="557778" y="1865259"/>
            <a:ext cx="2810267" cy="4448796"/>
            <a:chOff x="557778" y="1865259"/>
            <a:chExt cx="2810267" cy="444879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988D014-EAC1-283E-9AF0-F4529D26B2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7778" y="1865259"/>
              <a:ext cx="2810267" cy="4448796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917EC8B-E665-A4E5-7942-88803B2D7FE7}"/>
                </a:ext>
              </a:extLst>
            </p:cNvPr>
            <p:cNvSpPr/>
            <p:nvPr/>
          </p:nvSpPr>
          <p:spPr>
            <a:xfrm>
              <a:off x="932688" y="4261104"/>
              <a:ext cx="1179576" cy="2194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EE9D4441-FA7A-7167-2566-4710D6A5FDDE}"/>
              </a:ext>
            </a:extLst>
          </p:cNvPr>
          <p:cNvGrpSpPr/>
          <p:nvPr/>
        </p:nvGrpSpPr>
        <p:grpSpPr>
          <a:xfrm>
            <a:off x="3504438" y="1865259"/>
            <a:ext cx="7440930" cy="1169551"/>
            <a:chOff x="3504438" y="1865259"/>
            <a:chExt cx="7440930" cy="116955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11978DE-E365-A935-7F43-B2E494DB1FD7}"/>
                </a:ext>
              </a:extLst>
            </p:cNvPr>
            <p:cNvSpPr txBox="1"/>
            <p:nvPr/>
          </p:nvSpPr>
          <p:spPr>
            <a:xfrm>
              <a:off x="3504438" y="1865259"/>
              <a:ext cx="7440930" cy="1169551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spring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kafka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bootstrap-servers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43.200.183.198:9092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producer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key-serializer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org.apache.kafka.common.serialization.StringSerializer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value-serializer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org.apache.kafka.common.serialization.StringSerializer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D171BC6C-FD8E-481C-C495-41293F012A9F}"/>
                </a:ext>
              </a:extLst>
            </p:cNvPr>
            <p:cNvSpPr/>
            <p:nvPr/>
          </p:nvSpPr>
          <p:spPr>
            <a:xfrm>
              <a:off x="4544568" y="2606040"/>
              <a:ext cx="6208776" cy="42877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B1135A9-0330-0368-5A7B-E282014459C4}"/>
              </a:ext>
            </a:extLst>
          </p:cNvPr>
          <p:cNvSpPr txBox="1"/>
          <p:nvPr/>
        </p:nvSpPr>
        <p:spPr>
          <a:xfrm>
            <a:off x="3483864" y="3255264"/>
            <a:ext cx="848563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ko-KR" sz="1400"/>
              <a:t>producer </a:t>
            </a:r>
            <a:r>
              <a:rPr lang="ko-KR" altLang="en-US" sz="1400"/>
              <a:t>설정 </a:t>
            </a:r>
            <a:endParaRPr lang="en-US" altLang="ko-KR" sz="1400"/>
          </a:p>
          <a:p>
            <a:r>
              <a:rPr lang="en-US" altLang="ko-KR" sz="1400"/>
              <a:t>key-serializer : </a:t>
            </a:r>
            <a:r>
              <a:rPr lang="ko-KR" altLang="en-US" sz="1400"/>
              <a:t>키 설정을 문자열로 직렬화</a:t>
            </a:r>
            <a:endParaRPr lang="en-US" altLang="ko-KR" sz="1400"/>
          </a:p>
          <a:p>
            <a:r>
              <a:rPr lang="en-US" altLang="ko-KR" sz="1400"/>
              <a:t>value-serializer : </a:t>
            </a:r>
            <a:r>
              <a:rPr lang="ko-KR" altLang="en-US" sz="1400"/>
              <a:t>값 설정을 문자열로 직렬화</a:t>
            </a:r>
            <a:endParaRPr lang="en-US" altLang="ko-KR" sz="1400"/>
          </a:p>
          <a:p>
            <a:endParaRPr lang="en-US" altLang="ko-KR" sz="1400"/>
          </a:p>
          <a:p>
            <a:r>
              <a:rPr lang="ko-KR" altLang="en-US" sz="1400"/>
              <a:t>직렬화 하는 이유 </a:t>
            </a:r>
            <a:r>
              <a:rPr lang="en-US" altLang="ko-KR" sz="1400"/>
              <a:t>: JAVA </a:t>
            </a:r>
            <a:r>
              <a:rPr lang="ko-KR" altLang="en-US" sz="1400"/>
              <a:t>객체를 </a:t>
            </a:r>
            <a:r>
              <a:rPr lang="en-US" altLang="ko-KR" sz="1400"/>
              <a:t>JSON </a:t>
            </a:r>
            <a:r>
              <a:rPr lang="ko-KR" altLang="en-US" sz="1400"/>
              <a:t>문자열 형태로 직렬화하여 메시지 큐로 저장하기 위하여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215123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456BDB-7C2D-D330-D71D-57979C137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SpringBoot</a:t>
            </a:r>
            <a:r>
              <a:rPr lang="ko-KR" altLang="en-US" sz="4000"/>
              <a:t>로 </a:t>
            </a:r>
            <a:r>
              <a:rPr lang="en-US" altLang="ko-KR" sz="4000"/>
              <a:t>Kafka</a:t>
            </a:r>
            <a:r>
              <a:rPr lang="ko-KR" altLang="en-US" sz="4000"/>
              <a:t>에 메시지 넣는 코드 작성</a:t>
            </a:r>
            <a:br>
              <a:rPr lang="en-US" altLang="ko-KR" sz="4000"/>
            </a:br>
            <a:r>
              <a:rPr lang="en-US" altLang="ko-KR" sz="4000"/>
              <a:t>(Controller)</a:t>
            </a:r>
            <a:endParaRPr lang="ko-KR" altLang="en-US" sz="4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25AF9B-20F3-04E2-CF0E-6BA2807D6D63}"/>
              </a:ext>
            </a:extLst>
          </p:cNvPr>
          <p:cNvSpPr txBox="1"/>
          <p:nvPr/>
        </p:nvSpPr>
        <p:spPr>
          <a:xfrm>
            <a:off x="4354830" y="1996720"/>
            <a:ext cx="6094476" cy="350480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RestController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RequestMapping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"/api/emails"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EmailController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EmailController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PostMapping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sendEmail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@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RequestBody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SendEmailRequestDto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sendemailRequestDto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sendEmail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sendemailRequestDto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이메일 발송 요청 완료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83B956A-72F8-E9A2-8D5B-39DE6B02AC68}"/>
              </a:ext>
            </a:extLst>
          </p:cNvPr>
          <p:cNvGrpSpPr/>
          <p:nvPr/>
        </p:nvGrpSpPr>
        <p:grpSpPr>
          <a:xfrm>
            <a:off x="1386078" y="1996720"/>
            <a:ext cx="2772162" cy="3848637"/>
            <a:chOff x="1386078" y="1996720"/>
            <a:chExt cx="2772162" cy="384863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5B60D73-CBC4-ADCB-2FC8-F18211BE1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86078" y="1996720"/>
              <a:ext cx="2772162" cy="3848637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C3EB8AE-EF54-FE66-0834-7E35DF219386}"/>
                </a:ext>
              </a:extLst>
            </p:cNvPr>
            <p:cNvSpPr/>
            <p:nvPr/>
          </p:nvSpPr>
          <p:spPr>
            <a:xfrm>
              <a:off x="1655064" y="3921038"/>
              <a:ext cx="1563624" cy="19376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21950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78D7C8-77B8-1609-9C7C-56D9D679F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600"/>
              <a:t>요청 </a:t>
            </a:r>
            <a:r>
              <a:rPr lang="en-US" altLang="ko-KR" sz="3600"/>
              <a:t>DTO </a:t>
            </a:r>
            <a:r>
              <a:rPr lang="ko-KR" altLang="en-US" sz="3600"/>
              <a:t>작성</a:t>
            </a:r>
            <a:r>
              <a:rPr lang="en-US" altLang="ko-KR" sz="3600"/>
              <a:t>(SendEmailRequestDto)</a:t>
            </a:r>
            <a:endParaRPr lang="ko-KR" altLang="en-US" sz="360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B38BBF7-1C64-D432-B3F5-1EF8B0C3CFF1}"/>
              </a:ext>
            </a:extLst>
          </p:cNvPr>
          <p:cNvGrpSpPr/>
          <p:nvPr/>
        </p:nvGrpSpPr>
        <p:grpSpPr>
          <a:xfrm>
            <a:off x="1241109" y="1847960"/>
            <a:ext cx="2705478" cy="4277322"/>
            <a:chOff x="1241109" y="1847960"/>
            <a:chExt cx="2705478" cy="427732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1596417-EF6F-E901-B122-3C0CCA6DC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41109" y="1847960"/>
              <a:ext cx="2705478" cy="4277322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78337EA-4F53-0278-13F5-5488A321CA07}"/>
                </a:ext>
              </a:extLst>
            </p:cNvPr>
            <p:cNvSpPr/>
            <p:nvPr/>
          </p:nvSpPr>
          <p:spPr>
            <a:xfrm>
              <a:off x="1481328" y="3300984"/>
              <a:ext cx="1792224" cy="2743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7005507-E86F-B00B-94E4-71E61908AB6A}"/>
              </a:ext>
            </a:extLst>
          </p:cNvPr>
          <p:cNvSpPr txBox="1"/>
          <p:nvPr/>
        </p:nvSpPr>
        <p:spPr>
          <a:xfrm>
            <a:off x="4186806" y="1875152"/>
            <a:ext cx="3573018" cy="312598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SendEmailRequestDto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누구로 부터 왔는지 </a:t>
            </a:r>
            <a:r>
              <a:rPr lang="en-US" altLang="ko-KR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발신자</a:t>
            </a:r>
            <a:r>
              <a:rPr lang="en-US" altLang="ko-KR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누구에게 보내는지 </a:t>
            </a:r>
            <a:r>
              <a:rPr lang="en-US" altLang="ko-KR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수신자</a:t>
            </a:r>
            <a:r>
              <a:rPr lang="en-US" altLang="ko-KR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제목</a:t>
            </a:r>
            <a:endParaRPr lang="ko-KR" altLang="en-US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본문</a:t>
            </a:r>
            <a:endParaRPr lang="ko-KR" altLang="en-US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JsonCreator</a:t>
            </a:r>
            <a:endParaRPr lang="en-US" altLang="ko-KR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SendEmailRequestDto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@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JsonProperty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8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"from"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@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JsonProperty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8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"to"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@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JsonProperty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8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"subject"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@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JsonProperty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8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"body"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body</a:t>
            </a:r>
            <a:endParaRPr lang="en-US" altLang="ko-KR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F08F2F-8452-1073-91D3-CA38DF81D286}"/>
              </a:ext>
            </a:extLst>
          </p:cNvPr>
          <p:cNvSpPr txBox="1"/>
          <p:nvPr/>
        </p:nvSpPr>
        <p:spPr>
          <a:xfrm>
            <a:off x="8000043" y="1875152"/>
            <a:ext cx="2521458" cy="244079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getFrom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getSubject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getBody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AC4368-0918-4C7C-B077-4E1445EEC7C8}"/>
              </a:ext>
            </a:extLst>
          </p:cNvPr>
          <p:cNvSpPr txBox="1"/>
          <p:nvPr/>
        </p:nvSpPr>
        <p:spPr>
          <a:xfrm>
            <a:off x="4114800" y="5184648"/>
            <a:ext cx="795528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>
                <a:solidFill>
                  <a:srgbClr val="FF0000"/>
                </a:solidFill>
              </a:rPr>
              <a:t>기본 생성자가 없으면</a:t>
            </a:r>
            <a:r>
              <a:rPr lang="en-US" altLang="ko-KR" sz="1400" b="1">
                <a:solidFill>
                  <a:srgbClr val="FF0000"/>
                </a:solidFill>
              </a:rPr>
              <a:t>( public SendEmailRequestDto(){} )</a:t>
            </a:r>
            <a:r>
              <a:rPr lang="ko-KR" altLang="en-US" sz="1400" b="1">
                <a:solidFill>
                  <a:srgbClr val="FF0000"/>
                </a:solidFill>
              </a:rPr>
              <a:t> 역직렬화 시 에러 발생</a:t>
            </a:r>
            <a:endParaRPr lang="en-US" altLang="ko-KR" sz="1400" b="1">
              <a:solidFill>
                <a:srgbClr val="FF0000"/>
              </a:solidFill>
            </a:endParaRPr>
          </a:p>
          <a:p>
            <a:r>
              <a:rPr lang="en-US" altLang="ko-KR" sz="1400"/>
              <a:t>1. </a:t>
            </a:r>
            <a:r>
              <a:rPr lang="ko-KR" altLang="en-US" sz="1400"/>
              <a:t>기본 생성자 없이 역직렬화 생성자를 제공하는 방법 </a:t>
            </a:r>
            <a:r>
              <a:rPr lang="en-US" altLang="ko-KR" sz="1400"/>
              <a:t>- @JsonCreator</a:t>
            </a:r>
          </a:p>
          <a:p>
            <a:r>
              <a:rPr lang="en-US" altLang="ko-KR" sz="1400"/>
              <a:t>2. </a:t>
            </a:r>
            <a:r>
              <a:rPr lang="ko-KR" altLang="en-US" sz="1400"/>
              <a:t>역직렬화 대상 속성 제공 </a:t>
            </a:r>
            <a:r>
              <a:rPr lang="en-US" altLang="ko-KR" sz="1400"/>
              <a:t>- @JsonProperty(“</a:t>
            </a:r>
            <a:r>
              <a:rPr lang="ko-KR" altLang="en-US" sz="1400"/>
              <a:t>요청파람</a:t>
            </a:r>
            <a:r>
              <a:rPr lang="en-US" altLang="ko-KR" sz="1400"/>
              <a:t>”)</a:t>
            </a:r>
          </a:p>
          <a:p>
            <a:endParaRPr lang="en-US" altLang="ko-KR" sz="1400"/>
          </a:p>
          <a:p>
            <a:r>
              <a:rPr lang="ko-KR" altLang="en-US" sz="1400"/>
              <a:t>★ 그냥 기본생성자를 생성하면 이런일 없음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048760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D3636A-FD39-359D-330A-1C41457DE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4000"/>
              <a:t>SpringBoot</a:t>
            </a:r>
            <a:r>
              <a:rPr lang="ko-KR" altLang="en-US" sz="4000"/>
              <a:t>로 </a:t>
            </a:r>
            <a:r>
              <a:rPr lang="en-US" altLang="ko-KR" sz="4000"/>
              <a:t>Kafka</a:t>
            </a:r>
            <a:r>
              <a:rPr lang="ko-KR" altLang="en-US" sz="4000"/>
              <a:t>에 메시지 넣는 코드 작성</a:t>
            </a:r>
            <a:br>
              <a:rPr lang="en-US" altLang="ko-KR" sz="4000"/>
            </a:br>
            <a:r>
              <a:rPr lang="en-US" altLang="ko-KR" sz="4000"/>
              <a:t>(Service)</a:t>
            </a:r>
            <a:endParaRPr lang="ko-KR" altLang="en-US" sz="400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F616F79-E3CC-8896-D084-8AE45E702B1D}"/>
              </a:ext>
            </a:extLst>
          </p:cNvPr>
          <p:cNvGrpSpPr/>
          <p:nvPr/>
        </p:nvGrpSpPr>
        <p:grpSpPr>
          <a:xfrm>
            <a:off x="1250253" y="1847960"/>
            <a:ext cx="2705478" cy="4277322"/>
            <a:chOff x="1241109" y="1847960"/>
            <a:chExt cx="2705478" cy="427732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139C51E3-8400-757C-7271-B32F145B8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41109" y="1847960"/>
              <a:ext cx="2705478" cy="4277322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3141629-E60E-E721-EE41-0BBF61957ACF}"/>
                </a:ext>
              </a:extLst>
            </p:cNvPr>
            <p:cNvSpPr/>
            <p:nvPr/>
          </p:nvSpPr>
          <p:spPr>
            <a:xfrm>
              <a:off x="1453896" y="3081528"/>
              <a:ext cx="1335024" cy="34747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5F2C099-6D77-76E1-6A0F-640A26A2ECB7}"/>
              </a:ext>
            </a:extLst>
          </p:cNvPr>
          <p:cNvSpPr txBox="1"/>
          <p:nvPr/>
        </p:nvSpPr>
        <p:spPr>
          <a:xfrm>
            <a:off x="4237101" y="1847960"/>
            <a:ext cx="7439788" cy="49246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Service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EmailController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emailController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emailController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emailController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sendEmail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SendEmailRequestDto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EmailSendMessage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emailSendMessage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EmailSendMessage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getFrom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getSubject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getBody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"email.send"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toJsonString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emailSendMessage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toJsonString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ObjectMapper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objectMapper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ObjectMapper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objectMapper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writeValueAsString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JacksonException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"Json </a:t>
            </a:r>
            <a:r>
              <a:rPr lang="ko-KR" altLang="en-US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직렬화 실패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810C91-A06F-2405-D73E-652B33E92DA2}"/>
              </a:ext>
            </a:extLst>
          </p:cNvPr>
          <p:cNvSpPr/>
          <p:nvPr/>
        </p:nvSpPr>
        <p:spPr>
          <a:xfrm>
            <a:off x="4471416" y="4928616"/>
            <a:ext cx="4352544" cy="16427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4783A2-D697-1958-C68F-7E80C7C8EE9A}"/>
              </a:ext>
            </a:extLst>
          </p:cNvPr>
          <p:cNvSpPr txBox="1"/>
          <p:nvPr/>
        </p:nvSpPr>
        <p:spPr>
          <a:xfrm>
            <a:off x="8970264" y="4846319"/>
            <a:ext cx="2523744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/>
              <a:t>1. ObjectMapper</a:t>
            </a:r>
            <a:r>
              <a:rPr lang="ko-KR" altLang="en-US" sz="1200"/>
              <a:t>의 </a:t>
            </a:r>
            <a:br>
              <a:rPr lang="en-US" altLang="ko-KR" sz="1200"/>
            </a:br>
            <a:r>
              <a:rPr lang="en-US" altLang="ko-KR" sz="1200"/>
              <a:t>writeValueAsString</a:t>
            </a:r>
            <a:r>
              <a:rPr lang="ko-KR" altLang="en-US" sz="1200"/>
              <a:t>은 객체를 </a:t>
            </a:r>
            <a:r>
              <a:rPr lang="en-US" altLang="ko-KR" sz="1200"/>
              <a:t>Json </a:t>
            </a:r>
            <a:r>
              <a:rPr lang="ko-KR" altLang="en-US" sz="1200"/>
              <a:t>문자열로 직렬화 할 때 자주 사용됨으로 알아두자</a:t>
            </a:r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2. </a:t>
            </a:r>
            <a:r>
              <a:rPr lang="ko-KR" altLang="en-US" sz="1200"/>
              <a:t>직렬화 시에 예외처리로 감싸주어야 경고표시가 안뜬다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216773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660A84-3712-ABD2-FFAE-964B1DE4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EmailService</a:t>
            </a:r>
            <a:r>
              <a:rPr lang="ko-KR" altLang="en-US" sz="3600"/>
              <a:t>에서 </a:t>
            </a:r>
            <a:r>
              <a:rPr lang="en-US" altLang="ko-KR" sz="3600"/>
              <a:t>Kafka </a:t>
            </a:r>
            <a:r>
              <a:rPr lang="ko-KR" altLang="en-US" sz="3600"/>
              <a:t>메시지 큐로 보낼 </a:t>
            </a:r>
            <a:br>
              <a:rPr lang="en-US" altLang="ko-KR" sz="3600"/>
            </a:br>
            <a:r>
              <a:rPr lang="en-US" altLang="ko-KR" sz="3600"/>
              <a:t>DTO(EmailSendMessage) </a:t>
            </a:r>
            <a:r>
              <a:rPr lang="ko-KR" altLang="en-US" sz="3600"/>
              <a:t>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31E55E-B09F-7F9D-7F15-A4BE417737B9}"/>
              </a:ext>
            </a:extLst>
          </p:cNvPr>
          <p:cNvSpPr txBox="1"/>
          <p:nvPr/>
        </p:nvSpPr>
        <p:spPr>
          <a:xfrm>
            <a:off x="3778758" y="1821379"/>
            <a:ext cx="6599682" cy="439094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SendEmailRequestDto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누구로 부터 왔는지 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발신자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누구에게 보내는지 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수신자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제목</a:t>
            </a:r>
            <a:endParaRPr lang="ko-KR" altLang="en-US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본문</a:t>
            </a:r>
            <a:endParaRPr lang="ko-KR" altLang="en-US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SendEmailRequestDto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getFrom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getSubject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getBody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B0396D9-1D2E-B30C-BDD3-854751F04003}"/>
              </a:ext>
            </a:extLst>
          </p:cNvPr>
          <p:cNvGrpSpPr/>
          <p:nvPr/>
        </p:nvGrpSpPr>
        <p:grpSpPr>
          <a:xfrm>
            <a:off x="966027" y="1821379"/>
            <a:ext cx="2705478" cy="4277322"/>
            <a:chOff x="1241109" y="1847960"/>
            <a:chExt cx="2705478" cy="427732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668D8C3-0F3C-B787-1FD7-322065190C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41109" y="1847960"/>
              <a:ext cx="2705478" cy="4277322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EC7F278-2CDA-8578-7B09-5B9F8AD27041}"/>
                </a:ext>
              </a:extLst>
            </p:cNvPr>
            <p:cNvSpPr/>
            <p:nvPr/>
          </p:nvSpPr>
          <p:spPr>
            <a:xfrm>
              <a:off x="1527048" y="2715768"/>
              <a:ext cx="1546098" cy="27346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1791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06BF7B-6D4B-FB0E-9212-ECEA2F029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kafka</a:t>
            </a:r>
            <a:r>
              <a:rPr lang="ko-KR" altLang="en-US"/>
              <a:t> 데이터 상태 초기화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3089C4-9CA4-502C-0034-F37B8DDDD874}"/>
              </a:ext>
            </a:extLst>
          </p:cNvPr>
          <p:cNvSpPr txBox="1"/>
          <p:nvPr/>
        </p:nvSpPr>
        <p:spPr>
          <a:xfrm>
            <a:off x="1225296" y="1865376"/>
            <a:ext cx="993038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1. CLI</a:t>
            </a:r>
            <a:r>
              <a:rPr lang="ko-KR" altLang="en-US" sz="1400"/>
              <a:t>로 등록했던 </a:t>
            </a:r>
            <a:r>
              <a:rPr lang="en-US" altLang="ko-KR" sz="1400"/>
              <a:t>email.send  Topic </a:t>
            </a:r>
            <a:r>
              <a:rPr lang="ko-KR" altLang="en-US" sz="1400"/>
              <a:t>삭제</a:t>
            </a:r>
            <a:endParaRPr lang="en-US" altLang="ko-KR" sz="1400"/>
          </a:p>
          <a:p>
            <a:r>
              <a:rPr lang="en-US" altLang="ko-KR" sz="1400"/>
              <a:t>~kafka</a:t>
            </a:r>
            <a:r>
              <a:rPr lang="ko-KR" altLang="en-US" sz="1400"/>
              <a:t>폴더 </a:t>
            </a:r>
            <a:r>
              <a:rPr lang="en-US" altLang="ko-KR" sz="1400"/>
              <a:t>&gt; bin/kafka-topic.sh --bootstrap-server localhost:9092 --delete --topic email.send</a:t>
            </a:r>
          </a:p>
          <a:p>
            <a:r>
              <a:rPr lang="en-US" altLang="ko-KR" sz="1400"/>
              <a:t>2. CLI</a:t>
            </a:r>
            <a:r>
              <a:rPr lang="ko-KR" altLang="en-US" sz="1400"/>
              <a:t>로 등록했던 </a:t>
            </a:r>
            <a:r>
              <a:rPr lang="en-US" altLang="ko-KR" sz="1400"/>
              <a:t>email-send-group </a:t>
            </a:r>
            <a:r>
              <a:rPr lang="ko-KR" altLang="en-US" sz="1400"/>
              <a:t>삭제</a:t>
            </a:r>
            <a:endParaRPr lang="en-US" altLang="ko-KR" sz="1400"/>
          </a:p>
          <a:p>
            <a:r>
              <a:rPr lang="en-US" altLang="ko-KR" sz="1400"/>
              <a:t>~kafka</a:t>
            </a:r>
            <a:r>
              <a:rPr lang="ko-KR" altLang="en-US" sz="1400"/>
              <a:t>폴더 </a:t>
            </a:r>
            <a:r>
              <a:rPr lang="en-US" altLang="ko-KR" sz="1400"/>
              <a:t>&gt; bin/kafka-consumer-group.sh --bootstrap-server localhost:9092 --delete --group email-send-group</a:t>
            </a:r>
          </a:p>
          <a:p>
            <a:r>
              <a:rPr lang="en-US" altLang="ko-KR" sz="1400"/>
              <a:t>3. topic </a:t>
            </a:r>
            <a:r>
              <a:rPr lang="ko-KR" altLang="en-US" sz="1400"/>
              <a:t>확인</a:t>
            </a:r>
            <a:endParaRPr lang="en-US" altLang="ko-KR" sz="1400"/>
          </a:p>
          <a:p>
            <a:r>
              <a:rPr lang="en-US" altLang="ko-KR" sz="1400"/>
              <a:t>~kafka</a:t>
            </a:r>
            <a:r>
              <a:rPr lang="ko-KR" altLang="en-US" sz="1400"/>
              <a:t>폴더 </a:t>
            </a:r>
            <a:r>
              <a:rPr lang="en-US" altLang="ko-KR" sz="1400"/>
              <a:t>&gt; bin/kafka-topic.sh --bootstrap-service localhost:9092 --list</a:t>
            </a:r>
          </a:p>
          <a:p>
            <a:r>
              <a:rPr lang="en-US" altLang="ko-KR" sz="1400"/>
              <a:t>4. group </a:t>
            </a:r>
            <a:r>
              <a:rPr lang="ko-KR" altLang="en-US" sz="1400"/>
              <a:t>확인</a:t>
            </a:r>
            <a:endParaRPr lang="en-US" altLang="ko-KR" sz="1400"/>
          </a:p>
          <a:p>
            <a:r>
              <a:rPr lang="en-US" altLang="ko-KR" sz="1400"/>
              <a:t>~kafka</a:t>
            </a:r>
            <a:r>
              <a:rPr lang="ko-KR" altLang="en-US" sz="1400"/>
              <a:t>폴더 </a:t>
            </a:r>
            <a:r>
              <a:rPr lang="en-US" altLang="ko-KR" sz="1400"/>
              <a:t>&gt; bin/kafka-consumer-group.sh --bootstrap-server localhost:9092 --list</a:t>
            </a:r>
          </a:p>
          <a:p>
            <a:endParaRPr lang="en-US" altLang="ko-KR" sz="1400"/>
          </a:p>
          <a:p>
            <a:r>
              <a:rPr lang="en-US" altLang="ko-KR" sz="1400"/>
              <a:t>5. </a:t>
            </a:r>
            <a:r>
              <a:rPr lang="ko-KR" altLang="en-US" sz="1400"/>
              <a:t>다시 </a:t>
            </a:r>
            <a:r>
              <a:rPr lang="en-US" altLang="ko-KR" sz="1400"/>
              <a:t>email.send </a:t>
            </a:r>
            <a:r>
              <a:rPr lang="ko-KR" altLang="en-US" sz="1400"/>
              <a:t>토픽 생성</a:t>
            </a:r>
            <a:endParaRPr lang="en-US" altLang="ko-KR" sz="1400"/>
          </a:p>
          <a:p>
            <a:r>
              <a:rPr lang="en-US" altLang="ko-KR" sz="1400"/>
              <a:t>~kafka</a:t>
            </a:r>
            <a:r>
              <a:rPr lang="ko-KR" altLang="en-US" sz="1400"/>
              <a:t>폴더 </a:t>
            </a:r>
            <a:r>
              <a:rPr lang="en-US" altLang="ko-KR" sz="1400"/>
              <a:t>&gt; bin/kafka-topic.sh --bootstrap-service localhost:9092 --create --topic email.send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8941839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90849-99A4-F348-80FA-223221BA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sendEmail </a:t>
            </a:r>
            <a:r>
              <a:rPr lang="ko-KR" altLang="en-US"/>
              <a:t>요청 전송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80658A-9374-3B76-BDCE-904EF23D4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1860931"/>
            <a:ext cx="4873752" cy="461902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11DA15C-8714-B221-93F5-6197FB75A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" y="4462394"/>
            <a:ext cx="11719560" cy="46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754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4F9DD2-C592-1D93-38E2-ABDD2CB5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Kafka Consumer</a:t>
            </a:r>
            <a:r>
              <a:rPr lang="ko-KR" altLang="en-US" sz="4000"/>
              <a:t> 서버 애플리케이션 생성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50A446F-4160-7187-F6AF-8BDB2329B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36" y="1866308"/>
            <a:ext cx="8535044" cy="48636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503884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2BBFEF-9735-8B32-13BD-175E7AA68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application.yml kafka </a:t>
            </a:r>
            <a:r>
              <a:rPr lang="ko-KR" altLang="en-US"/>
              <a:t>설정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F0F3CB-9249-633D-9271-958BB67BBEDC}"/>
              </a:ext>
            </a:extLst>
          </p:cNvPr>
          <p:cNvSpPr txBox="1"/>
          <p:nvPr/>
        </p:nvSpPr>
        <p:spPr>
          <a:xfrm>
            <a:off x="3412998" y="1944211"/>
            <a:ext cx="7742682" cy="276607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spring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application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email-send-consumer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kafka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bootstrap-servers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43.200.183.198:9092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consumer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key-deserializer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org.apache.kafka.common.serialization.StringDeserializer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value-deserializer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org.apache.kafka.common.serialization.StringDeserializer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auto-offset-reset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earliest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컨슈머 그룹이 없으면 컨슈머 그룹 직접 생성 및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--from-beginning 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옵션 실행</a:t>
            </a:r>
            <a:endParaRPr lang="ko-KR" altLang="en-US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00DFC3B-6714-E2E0-9586-12DC654C2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25" y="1944211"/>
            <a:ext cx="2545272" cy="491378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0F5C03F-4FFF-06F3-7A12-E78C1BAFF120}"/>
              </a:ext>
            </a:extLst>
          </p:cNvPr>
          <p:cNvSpPr/>
          <p:nvPr/>
        </p:nvSpPr>
        <p:spPr>
          <a:xfrm>
            <a:off x="914400" y="4928616"/>
            <a:ext cx="1252728" cy="2377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697D37-A111-AB27-258A-B7C72E8E595C}"/>
              </a:ext>
            </a:extLst>
          </p:cNvPr>
          <p:cNvSpPr txBox="1"/>
          <p:nvPr/>
        </p:nvSpPr>
        <p:spPr>
          <a:xfrm>
            <a:off x="3483864" y="4818888"/>
            <a:ext cx="79707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consumer</a:t>
            </a:r>
            <a:r>
              <a:rPr lang="ko-KR" altLang="en-US" sz="1400"/>
              <a:t>는 </a:t>
            </a:r>
            <a:r>
              <a:rPr lang="en-US" altLang="ko-KR" sz="1400"/>
              <a:t>Json </a:t>
            </a:r>
            <a:r>
              <a:rPr lang="ko-KR" altLang="en-US" sz="1400"/>
              <a:t>문자열을 받아 </a:t>
            </a:r>
            <a:r>
              <a:rPr lang="en-US" altLang="ko-KR" sz="1400"/>
              <a:t>Java</a:t>
            </a:r>
            <a:r>
              <a:rPr lang="ko-KR" altLang="en-US" sz="1400"/>
              <a:t>객체로 변환해야 함으로 </a:t>
            </a:r>
            <a:r>
              <a:rPr lang="en-US" altLang="ko-KR" sz="1400"/>
              <a:t>(</a:t>
            </a:r>
            <a:r>
              <a:rPr lang="ko-KR" altLang="en-US" sz="1400"/>
              <a:t>역직렬화</a:t>
            </a:r>
            <a:r>
              <a:rPr lang="en-US" altLang="ko-KR" sz="1400"/>
              <a:t>)</a:t>
            </a:r>
          </a:p>
          <a:p>
            <a:r>
              <a:rPr lang="en-US" altLang="ko-KR" sz="1400"/>
              <a:t>deserializer </a:t>
            </a:r>
            <a:r>
              <a:rPr lang="ko-KR" altLang="en-US" sz="1400"/>
              <a:t>설정을 해주어야한다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r>
              <a:rPr lang="en-US" altLang="ko-KR" sz="1400"/>
              <a:t>producer kafka</a:t>
            </a:r>
            <a:r>
              <a:rPr lang="ko-KR" altLang="en-US" sz="1400"/>
              <a:t>서버랑 포트가 겹치지 않도록 </a:t>
            </a:r>
            <a:r>
              <a:rPr lang="en-US" altLang="ko-KR" sz="1400"/>
              <a:t>0(</a:t>
            </a:r>
            <a:r>
              <a:rPr lang="ko-KR" altLang="en-US" sz="1400"/>
              <a:t>가용할수 있는 랜덤 포트</a:t>
            </a:r>
            <a:r>
              <a:rPr lang="en-US" altLang="ko-KR" sz="1400"/>
              <a:t>) </a:t>
            </a:r>
            <a:r>
              <a:rPr lang="ko-KR" altLang="en-US" sz="1400"/>
              <a:t>를 설정하였다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474123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49B22C-7E25-6021-D5F1-018CC3F43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역직렬화 </a:t>
            </a:r>
            <a:r>
              <a:rPr lang="en-US" altLang="ko-KR"/>
              <a:t>DTO </a:t>
            </a:r>
            <a:r>
              <a:rPr lang="ko-KR" altLang="en-US"/>
              <a:t>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99889C-B7A8-CA12-08EA-3E7E1B8BCD55}"/>
              </a:ext>
            </a:extLst>
          </p:cNvPr>
          <p:cNvSpPr txBox="1"/>
          <p:nvPr/>
        </p:nvSpPr>
        <p:spPr>
          <a:xfrm>
            <a:off x="237744" y="1871706"/>
            <a:ext cx="6318504" cy="277511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EmailSendMessage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EmailSendMessage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(){}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EmailSendMessage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1D8930-A25E-1DC5-BB14-0A424F29A08A}"/>
              </a:ext>
            </a:extLst>
          </p:cNvPr>
          <p:cNvSpPr txBox="1"/>
          <p:nvPr/>
        </p:nvSpPr>
        <p:spPr>
          <a:xfrm>
            <a:off x="6796278" y="1871706"/>
            <a:ext cx="5237226" cy="456881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getFrom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getSubject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getBody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EmailSendMessage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fromJson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ObjectMapper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objectMapper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ObjectMapper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objectMapper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readValue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EmailSendMessage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JacksonException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){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JsonProcessingException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은</a:t>
            </a:r>
            <a:endParaRPr lang="ko-KR" altLang="en-US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"Json </a:t>
            </a:r>
            <a:r>
              <a:rPr lang="ko-KR" altLang="en-US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파싱 실패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17865A-AD5E-6194-4B2C-E3E5C8DC00E3}"/>
              </a:ext>
            </a:extLst>
          </p:cNvPr>
          <p:cNvSpPr txBox="1"/>
          <p:nvPr/>
        </p:nvSpPr>
        <p:spPr>
          <a:xfrm>
            <a:off x="237744" y="4745736"/>
            <a:ext cx="63185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역직렬화 시에는 기본 생성자가 있어야하며</a:t>
            </a:r>
            <a:r>
              <a:rPr lang="en-US" altLang="ko-KR" sz="1200"/>
              <a:t>, getter </a:t>
            </a:r>
            <a:r>
              <a:rPr lang="ko-KR" altLang="en-US" sz="1200"/>
              <a:t>메소드는 필수이다</a:t>
            </a:r>
            <a:r>
              <a:rPr lang="en-US" altLang="ko-KR" sz="1200"/>
              <a:t>.</a:t>
            </a:r>
          </a:p>
          <a:p>
            <a:endParaRPr lang="en-US" altLang="ko-KR" sz="1200" b="1">
              <a:solidFill>
                <a:srgbClr val="FF0000"/>
              </a:solidFill>
            </a:endParaRPr>
          </a:p>
          <a:p>
            <a:endParaRPr lang="en-US" altLang="ko-KR" sz="1200" b="1">
              <a:solidFill>
                <a:srgbClr val="FF0000"/>
              </a:solidFill>
            </a:endParaRPr>
          </a:p>
          <a:p>
            <a:endParaRPr lang="en-US" altLang="ko-KR" sz="1200" b="1">
              <a:solidFill>
                <a:srgbClr val="FF0000"/>
              </a:solidFill>
            </a:endParaRPr>
          </a:p>
          <a:p>
            <a:endParaRPr lang="en-US" altLang="ko-KR" sz="1200" b="1"/>
          </a:p>
          <a:p>
            <a:r>
              <a:rPr lang="en-US" altLang="ko-KR" sz="1200" b="1"/>
              <a:t>fromJson </a:t>
            </a:r>
            <a:r>
              <a:rPr lang="ko-KR" altLang="en-US" sz="1200" b="1"/>
              <a:t>메소드 작성 이유 </a:t>
            </a:r>
            <a:r>
              <a:rPr lang="en-US" altLang="ko-KR" sz="1200" b="1"/>
              <a:t>: StringDeserializer </a:t>
            </a:r>
            <a:r>
              <a:rPr lang="ko-KR" altLang="en-US" sz="1200" b="1"/>
              <a:t>로써 역직렬화 결과가 결국에는 </a:t>
            </a:r>
            <a:r>
              <a:rPr lang="en-US" altLang="ko-KR" sz="1200" b="1"/>
              <a:t>String</a:t>
            </a:r>
            <a:r>
              <a:rPr lang="ko-KR" altLang="en-US" sz="1200" b="1"/>
              <a:t>이다</a:t>
            </a:r>
            <a:r>
              <a:rPr lang="en-US" altLang="ko-KR" sz="1200" b="1"/>
              <a:t>.</a:t>
            </a:r>
          </a:p>
          <a:p>
            <a:endParaRPr lang="en-US" altLang="ko-KR" sz="1200" b="1">
              <a:solidFill>
                <a:srgbClr val="FF0000"/>
              </a:solidFill>
            </a:endParaRPr>
          </a:p>
          <a:p>
            <a:r>
              <a:rPr lang="ko-KR" altLang="en-US" sz="1200" b="1">
                <a:solidFill>
                  <a:srgbClr val="FF0000"/>
                </a:solidFill>
              </a:rPr>
              <a:t>알아두기 </a:t>
            </a:r>
            <a:r>
              <a:rPr lang="en-US" altLang="ko-KR" sz="1200" b="1">
                <a:solidFill>
                  <a:srgbClr val="FF0000"/>
                </a:solidFill>
              </a:rPr>
              <a:t>: objectMapper.readValue( JsonString , </a:t>
            </a:r>
            <a:r>
              <a:rPr lang="ko-KR" altLang="en-US" sz="1200" b="1">
                <a:solidFill>
                  <a:srgbClr val="FF0000"/>
                </a:solidFill>
              </a:rPr>
              <a:t>변환클래스명</a:t>
            </a:r>
            <a:r>
              <a:rPr lang="en-US" altLang="ko-KR" sz="1200" b="1">
                <a:solidFill>
                  <a:srgbClr val="FF0000"/>
                </a:solidFill>
              </a:rPr>
              <a:t>.class);</a:t>
            </a:r>
            <a:endParaRPr lang="ko-KR" altLang="en-US" sz="1200" b="1">
              <a:solidFill>
                <a:srgbClr val="FF000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8B8434B-A4B9-751E-D992-5AD1356F1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" y="5100417"/>
            <a:ext cx="5677692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925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87F78F-C94B-D046-4530-261ADE46D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consumer Service </a:t>
            </a:r>
            <a:r>
              <a:rPr lang="ko-KR" altLang="en-US"/>
              <a:t>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D13B62-68B5-829F-052E-007B38F02A87}"/>
              </a:ext>
            </a:extLst>
          </p:cNvPr>
          <p:cNvSpPr txBox="1"/>
          <p:nvPr/>
        </p:nvSpPr>
        <p:spPr>
          <a:xfrm>
            <a:off x="715518" y="1912753"/>
            <a:ext cx="6094476" cy="367446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Service</a:t>
            </a: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EmailSendConsumer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KafkaListener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topics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"email.send"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"email-send-group"</a:t>
            </a: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consumer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"Kafka</a:t>
            </a:r>
            <a:r>
              <a:rPr lang="ko-KR" altLang="en-US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로부터 받아온 메시지 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ko-KR" altLang="en-US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EmailSendMessage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emailSendMessage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EmailSendMessage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fromJson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... </a:t>
            </a:r>
            <a:r>
              <a:rPr lang="ko-KR" altLang="en-US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실제 이메일 발송 로직은 생략 </a:t>
            </a:r>
            <a:r>
              <a:rPr lang="en-US" altLang="ko-KR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...</a:t>
            </a:r>
            <a:endParaRPr lang="ko-KR" altLang="en-US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ko-KR" altLang="en-US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ko-KR" altLang="en-US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이메일 발송 완료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98FEFF-B170-6E5D-F168-937C22828675}"/>
              </a:ext>
            </a:extLst>
          </p:cNvPr>
          <p:cNvSpPr txBox="1"/>
          <p:nvPr/>
        </p:nvSpPr>
        <p:spPr>
          <a:xfrm>
            <a:off x="6809994" y="1912753"/>
            <a:ext cx="50772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@KafkaListener </a:t>
            </a:r>
            <a:r>
              <a:rPr lang="ko-KR" altLang="en-US" sz="1200"/>
              <a:t>를 통해 </a:t>
            </a:r>
            <a:endParaRPr lang="en-US" altLang="ko-KR" sz="1200"/>
          </a:p>
          <a:p>
            <a:r>
              <a:rPr lang="en-US" altLang="ko-KR" sz="1200"/>
              <a:t>Consumer</a:t>
            </a:r>
            <a:r>
              <a:rPr lang="ko-KR" altLang="en-US" sz="1200"/>
              <a:t>가 </a:t>
            </a:r>
            <a:r>
              <a:rPr lang="en-US" altLang="ko-KR" sz="1200"/>
              <a:t>topic</a:t>
            </a:r>
            <a:r>
              <a:rPr lang="ko-KR" altLang="en-US" sz="1200"/>
              <a:t>에 관한 </a:t>
            </a:r>
            <a:r>
              <a:rPr lang="en-US" altLang="ko-KR" sz="1200"/>
              <a:t>Queue</a:t>
            </a:r>
            <a:r>
              <a:rPr lang="ko-KR" altLang="en-US" sz="1200"/>
              <a:t>를 </a:t>
            </a:r>
            <a:r>
              <a:rPr lang="en-US" altLang="ko-KR" sz="1200"/>
              <a:t>Listen </a:t>
            </a:r>
            <a:r>
              <a:rPr lang="ko-KR" altLang="en-US" sz="1200"/>
              <a:t>하고 있는다</a:t>
            </a:r>
            <a:r>
              <a:rPr lang="en-US" altLang="ko-KR" sz="1200"/>
              <a:t>.</a:t>
            </a:r>
          </a:p>
          <a:p>
            <a:r>
              <a:rPr lang="ko-KR" altLang="en-US" sz="1200"/>
              <a:t>즉</a:t>
            </a:r>
            <a:r>
              <a:rPr lang="en-US" altLang="ko-KR" sz="1200"/>
              <a:t>. producer </a:t>
            </a:r>
            <a:r>
              <a:rPr lang="ko-KR" altLang="en-US" sz="1200"/>
              <a:t>서버에서 메세지 큐로 메시지 등록 즉시 </a:t>
            </a:r>
            <a:endParaRPr lang="en-US" altLang="ko-KR" sz="1200"/>
          </a:p>
          <a:p>
            <a:r>
              <a:rPr lang="en-US" altLang="ko-KR" sz="1200"/>
              <a:t>Consumer</a:t>
            </a:r>
            <a:r>
              <a:rPr lang="ko-KR" altLang="en-US" sz="1200"/>
              <a:t>가 읽어 들인다</a:t>
            </a:r>
            <a:r>
              <a:rPr lang="en-US" altLang="ko-KR" sz="1200"/>
              <a:t>.</a:t>
            </a:r>
          </a:p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359892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F47E3F-1027-5242-FF27-9B4D3BE94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Producer </a:t>
            </a:r>
            <a:r>
              <a:rPr lang="ko-KR" altLang="en-US" sz="3600"/>
              <a:t>메세지 전송 </a:t>
            </a:r>
            <a:r>
              <a:rPr lang="en-US" altLang="ko-KR" sz="3600"/>
              <a:t>/ Consumer </a:t>
            </a:r>
            <a:r>
              <a:rPr lang="ko-KR" altLang="en-US" sz="3600"/>
              <a:t>실시간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A5A32B-40D5-6267-15C9-722781484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12" y="1937301"/>
            <a:ext cx="6020640" cy="3934374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6670A558-93D0-0585-B4A2-CADD81C3C28D}"/>
              </a:ext>
            </a:extLst>
          </p:cNvPr>
          <p:cNvGrpSpPr/>
          <p:nvPr/>
        </p:nvGrpSpPr>
        <p:grpSpPr>
          <a:xfrm>
            <a:off x="6572236" y="1937301"/>
            <a:ext cx="5452124" cy="4449577"/>
            <a:chOff x="6572236" y="1937301"/>
            <a:chExt cx="5452124" cy="444957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A09909A-0B05-896C-6EE5-C90E7C2D1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72236" y="1937301"/>
              <a:ext cx="5452124" cy="4449577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BE422FA-F920-EFBF-1192-C30FBCF644F6}"/>
                </a:ext>
              </a:extLst>
            </p:cNvPr>
            <p:cNvSpPr/>
            <p:nvPr/>
          </p:nvSpPr>
          <p:spPr>
            <a:xfrm>
              <a:off x="8448805" y="5824603"/>
              <a:ext cx="3444658" cy="5010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09AA4A-F5EB-5C24-1E9E-5F93835BF039}"/>
              </a:ext>
            </a:extLst>
          </p:cNvPr>
          <p:cNvSpPr txBox="1"/>
          <p:nvPr/>
        </p:nvSpPr>
        <p:spPr>
          <a:xfrm>
            <a:off x="369912" y="5931074"/>
            <a:ext cx="60206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postman </a:t>
            </a:r>
            <a:r>
              <a:rPr lang="en-US" altLang="ko-KR" sz="1050">
                <a:sym typeface="Wingdings" panose="05000000000000000000" pitchFamily="2" charset="2"/>
              </a:rPr>
              <a:t> producer</a:t>
            </a:r>
            <a:r>
              <a:rPr lang="ko-KR" altLang="en-US" sz="1050">
                <a:sym typeface="Wingdings" panose="05000000000000000000" pitchFamily="2" charset="2"/>
              </a:rPr>
              <a:t> 메시지 전송 </a:t>
            </a:r>
            <a:r>
              <a:rPr lang="en-US" altLang="ko-KR" sz="1050">
                <a:sym typeface="Wingdings" panose="05000000000000000000" pitchFamily="2" charset="2"/>
              </a:rPr>
              <a:t> producer </a:t>
            </a:r>
            <a:r>
              <a:rPr lang="ko-KR" altLang="en-US" sz="1050">
                <a:sym typeface="Wingdings" panose="05000000000000000000" pitchFamily="2" charset="2"/>
              </a:rPr>
              <a:t>메세지 </a:t>
            </a:r>
            <a:r>
              <a:rPr lang="en-US" altLang="ko-KR" sz="1050">
                <a:sym typeface="Wingdings" panose="05000000000000000000" pitchFamily="2" charset="2"/>
              </a:rPr>
              <a:t>Kafka</a:t>
            </a:r>
            <a:r>
              <a:rPr lang="ko-KR" altLang="en-US" sz="1050">
                <a:sym typeface="Wingdings" panose="05000000000000000000" pitchFamily="2" charset="2"/>
              </a:rPr>
              <a:t>저장 </a:t>
            </a:r>
            <a:r>
              <a:rPr lang="en-US" altLang="ko-KR" sz="1050">
                <a:sym typeface="Wingdings" panose="05000000000000000000" pitchFamily="2" charset="2"/>
              </a:rPr>
              <a:t> consumer Kafka </a:t>
            </a:r>
            <a:r>
              <a:rPr lang="ko-KR" altLang="en-US" sz="1050">
                <a:sym typeface="Wingdings" panose="05000000000000000000" pitchFamily="2" charset="2"/>
              </a:rPr>
              <a:t>큐 </a:t>
            </a:r>
            <a:r>
              <a:rPr lang="en-US" altLang="ko-KR" sz="1050">
                <a:sym typeface="Wingdings" panose="05000000000000000000" pitchFamily="2" charset="2"/>
              </a:rPr>
              <a:t>Listen</a:t>
            </a:r>
            <a:endParaRPr lang="ko-KR" altLang="en-US" sz="1050"/>
          </a:p>
        </p:txBody>
      </p:sp>
    </p:spTree>
    <p:extLst>
      <p:ext uri="{BB962C8B-B14F-4D97-AF65-F5344CB8AC3E}">
        <p14:creationId xmlns:p14="http://schemas.microsoft.com/office/powerpoint/2010/main" val="22029591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C79291-506C-4090-6AD9-54CD54559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이메일 발송 로직에 부하를 가정하여 코드 수정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C89A045-A643-83AC-5BF0-653382FF7A20}"/>
              </a:ext>
            </a:extLst>
          </p:cNvPr>
          <p:cNvGrpSpPr/>
          <p:nvPr/>
        </p:nvGrpSpPr>
        <p:grpSpPr>
          <a:xfrm>
            <a:off x="425508" y="1967027"/>
            <a:ext cx="6439799" cy="3820058"/>
            <a:chOff x="425508" y="1967027"/>
            <a:chExt cx="6439799" cy="3820058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B96DF8A-9465-9D72-1F88-508063ED775D}"/>
                </a:ext>
              </a:extLst>
            </p:cNvPr>
            <p:cNvGrpSpPr/>
            <p:nvPr/>
          </p:nvGrpSpPr>
          <p:grpSpPr>
            <a:xfrm>
              <a:off x="425508" y="1967027"/>
              <a:ext cx="6439799" cy="3820058"/>
              <a:chOff x="425508" y="1967027"/>
              <a:chExt cx="6439799" cy="3820058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ABD78A4B-CAA1-32B3-E3D8-701F7D41A2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25508" y="1967027"/>
                <a:ext cx="6439799" cy="3820058"/>
              </a:xfrm>
              <a:prstGeom prst="rect">
                <a:avLst/>
              </a:prstGeom>
            </p:spPr>
          </p:pic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8DBDDF9C-F766-22C1-0BBC-1A47F2B2170C}"/>
                  </a:ext>
                </a:extLst>
              </p:cNvPr>
              <p:cNvSpPr/>
              <p:nvPr/>
            </p:nvSpPr>
            <p:spPr>
              <a:xfrm>
                <a:off x="4032504" y="2203704"/>
                <a:ext cx="2459736" cy="87782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Consumer Server</a:t>
                </a:r>
                <a:endParaRPr lang="ko-KR" altLang="en-US"/>
              </a:p>
            </p:txBody>
          </p: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7D19D89-EA78-1986-3729-9B4A3056659E}"/>
                </a:ext>
              </a:extLst>
            </p:cNvPr>
            <p:cNvSpPr/>
            <p:nvPr/>
          </p:nvSpPr>
          <p:spPr>
            <a:xfrm>
              <a:off x="1700784" y="4315968"/>
              <a:ext cx="2185416" cy="2560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97DB6E3-0FF5-B15D-C6D6-CCC32059E39B}"/>
              </a:ext>
            </a:extLst>
          </p:cNvPr>
          <p:cNvGrpSpPr/>
          <p:nvPr/>
        </p:nvGrpSpPr>
        <p:grpSpPr>
          <a:xfrm>
            <a:off x="5532120" y="3187050"/>
            <a:ext cx="6329982" cy="3384347"/>
            <a:chOff x="5532120" y="3187050"/>
            <a:chExt cx="6329982" cy="3384347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5B530B6B-57EA-2502-F575-A9517CF3D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9425" t="11467" r="19975" b="30933"/>
            <a:stretch>
              <a:fillRect/>
            </a:stretch>
          </p:blipFill>
          <p:spPr>
            <a:xfrm>
              <a:off x="5532120" y="3187050"/>
              <a:ext cx="6329982" cy="3384347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607375A-26EF-FA8D-5C75-D85105C85605}"/>
                </a:ext>
              </a:extLst>
            </p:cNvPr>
            <p:cNvSpPr/>
            <p:nvPr/>
          </p:nvSpPr>
          <p:spPr>
            <a:xfrm>
              <a:off x="10049256" y="5787085"/>
              <a:ext cx="896112" cy="2560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D5ADBF9-D909-B6AC-A941-A7FAFAA7203D}"/>
              </a:ext>
            </a:extLst>
          </p:cNvPr>
          <p:cNvSpPr txBox="1"/>
          <p:nvPr/>
        </p:nvSpPr>
        <p:spPr>
          <a:xfrm>
            <a:off x="7004304" y="1967027"/>
            <a:ext cx="48577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이메일 발송로직에 부하를  강제 주입해도 이메일 발송 </a:t>
            </a:r>
            <a:r>
              <a:rPr lang="en-US" altLang="ko-KR" sz="1200"/>
              <a:t>API</a:t>
            </a:r>
            <a:r>
              <a:rPr lang="ko-KR" altLang="en-US" sz="1200"/>
              <a:t>에서는</a:t>
            </a:r>
            <a:endParaRPr lang="en-US" altLang="ko-KR" sz="1200"/>
          </a:p>
          <a:p>
            <a:r>
              <a:rPr lang="ko-KR" altLang="en-US" sz="1200"/>
              <a:t>빠른 응답을 받을수 있다</a:t>
            </a:r>
            <a:r>
              <a:rPr lang="en-US" altLang="ko-KR" sz="1200"/>
              <a:t>. (</a:t>
            </a:r>
            <a:r>
              <a:rPr lang="ko-KR" altLang="en-US" sz="1200"/>
              <a:t>사용자는 처리된 것으로 앎</a:t>
            </a:r>
            <a:r>
              <a:rPr lang="en-US" altLang="ko-KR" sz="1200"/>
              <a:t>)</a:t>
            </a:r>
          </a:p>
          <a:p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하지만 서버에서는 해당 이메일 전송로직이 큐에 대기 중이거나 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      </a:t>
            </a:r>
            <a:r>
              <a:rPr lang="ko-KR" altLang="en-US" sz="1200">
                <a:sym typeface="Wingdings" panose="05000000000000000000" pitchFamily="2" charset="2"/>
              </a:rPr>
              <a:t>처리중에 있다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1354425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D4E86-099C-98D6-2F68-DD45922F5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비동기 처리로 인한 문제점 보완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0F3C19-C621-23DB-42D0-538B18963E06}"/>
              </a:ext>
            </a:extLst>
          </p:cNvPr>
          <p:cNvSpPr txBox="1"/>
          <p:nvPr/>
        </p:nvSpPr>
        <p:spPr>
          <a:xfrm>
            <a:off x="1124712" y="1901952"/>
            <a:ext cx="100675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사용자에게는 처리가 정상적으로 되었다는 메세지를 보냈지만 실제로 처리가 정상 동작했는지에 대한 보장이 되어야한다는 것이다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r>
              <a:rPr lang="ko-KR" altLang="en-US" sz="1400"/>
              <a:t>이를 위해 시스템에서 다양한 보완전략을 사용한다</a:t>
            </a:r>
            <a:r>
              <a:rPr lang="en-US" altLang="ko-KR" sz="1400"/>
              <a:t>. </a:t>
            </a:r>
          </a:p>
          <a:p>
            <a:endParaRPr lang="en-US" altLang="ko-KR" sz="1400"/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ko-KR" altLang="en-US" sz="1400"/>
              <a:t>보완 전략 방식 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메시지 처리 중 실패 발생시 재시도</a:t>
            </a:r>
            <a:r>
              <a:rPr lang="en-US" altLang="ko-KR" sz="1400"/>
              <a:t>(retry) </a:t>
            </a:r>
            <a:r>
              <a:rPr lang="ko-KR" altLang="en-US" sz="1400"/>
              <a:t>방식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여러번의 재시도 끝에도 실패할 경우 </a:t>
            </a:r>
            <a:r>
              <a:rPr lang="en-US" altLang="ko-KR" sz="1400">
                <a:sym typeface="Wingdings" panose="05000000000000000000" pitchFamily="2" charset="2"/>
              </a:rPr>
              <a:t> Dead Letter Topic (DLT) </a:t>
            </a:r>
            <a:r>
              <a:rPr lang="ko-KR" altLang="en-US" sz="1400">
                <a:sym typeface="Wingdings" panose="05000000000000000000" pitchFamily="2" charset="2"/>
              </a:rPr>
              <a:t>실패한 메세지를 별도 보관 </a:t>
            </a:r>
            <a:endParaRPr lang="en-US" altLang="ko-KR" sz="1400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endParaRPr lang="en-US" altLang="ko-KR" sz="1400">
              <a:sym typeface="Wingdings" panose="05000000000000000000" pitchFamily="2" charset="2"/>
            </a:endParaRPr>
          </a:p>
          <a:p>
            <a:r>
              <a:rPr lang="ko-KR" altLang="en-US" sz="1400"/>
              <a:t>두 보완 전략이 주로 사용된다</a:t>
            </a:r>
            <a:r>
              <a:rPr lang="en-US" altLang="ko-KR" sz="1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982997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346</TotalTime>
  <Words>2100</Words>
  <Application>Microsoft Office PowerPoint</Application>
  <PresentationFormat>와이드스크린</PresentationFormat>
  <Paragraphs>307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4" baseType="lpstr">
      <vt:lpstr>Calibri</vt:lpstr>
      <vt:lpstr>Calibri Light</vt:lpstr>
      <vt:lpstr>Consolas</vt:lpstr>
      <vt:lpstr>Wingdings</vt:lpstr>
      <vt:lpstr>추억</vt:lpstr>
      <vt:lpstr>Kafka 기본 개념</vt:lpstr>
      <vt:lpstr>Kafka의 구조</vt:lpstr>
      <vt:lpstr>토픽 생성 / 조회 / 삭제</vt:lpstr>
      <vt:lpstr>토픽 생성/조회/삭제</vt:lpstr>
      <vt:lpstr>CLI 환경에서 Topic에 메세지 전달</vt:lpstr>
      <vt:lpstr>Topic에 메세지 전달</vt:lpstr>
      <vt:lpstr>Kafka와 RabbitMQ 의 차이</vt:lpstr>
      <vt:lpstr>CLI환경 consumer의 동작(실시간 확인)</vt:lpstr>
      <vt:lpstr>producer의 빈 값입력(번외[강의 내용X])</vt:lpstr>
      <vt:lpstr>컨슈머 그룹에 의한 offset 개념</vt:lpstr>
      <vt:lpstr>메세지를 어디까지 읽었는지 기억하고 그 다음메세지 부터 처리하기</vt:lpstr>
      <vt:lpstr>실습 시나리오 확인</vt:lpstr>
      <vt:lpstr>실습 시나리오 확인(2)</vt:lpstr>
      <vt:lpstr>토픽 / 컨슈머 그룹 네이밍 컨벤션 참고자료</vt:lpstr>
      <vt:lpstr>Spring Boot Kafka애플리케이션 생성</vt:lpstr>
      <vt:lpstr>SpringBoot Application.yml 에 kafka 설정</vt:lpstr>
      <vt:lpstr>SpringBoot로 Kafka에 메시지 넣는 코드 작성 (Controller)</vt:lpstr>
      <vt:lpstr>요청 DTO 작성(SendEmailRequestDto)</vt:lpstr>
      <vt:lpstr>SpringBoot로 Kafka에 메시지 넣는 코드 작성 (Service)</vt:lpstr>
      <vt:lpstr>EmailService에서 Kafka 메시지 큐로 보낼  DTO(EmailSendMessage) 작성</vt:lpstr>
      <vt:lpstr>kafka 데이터 상태 초기화</vt:lpstr>
      <vt:lpstr>sendEmail 요청 전송</vt:lpstr>
      <vt:lpstr>Kafka Consumer 서버 애플리케이션 생성</vt:lpstr>
      <vt:lpstr>application.yml kafka 설정</vt:lpstr>
      <vt:lpstr>역직렬화 DTO 작성</vt:lpstr>
      <vt:lpstr>consumer Service 작성</vt:lpstr>
      <vt:lpstr>Producer 메세지 전송 / Consumer 실시간 확인</vt:lpstr>
      <vt:lpstr>이메일 발송 로직에 부하를 가정하여 코드 수정</vt:lpstr>
      <vt:lpstr>비동기 처리로 인한 문제점 보완.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50</cp:revision>
  <dcterms:created xsi:type="dcterms:W3CDTF">2026-08-11T07:18:38Z</dcterms:created>
  <dcterms:modified xsi:type="dcterms:W3CDTF">2026-09-23T07:45:27Z</dcterms:modified>
</cp:coreProperties>
</file>