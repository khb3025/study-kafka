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2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675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671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14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151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24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265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119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29CA4C6-9CEB-4A14-98B1-433FC3D031C9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413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843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090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A4C6-9CEB-4A14-98B1-433FC3D031C9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05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29CA4C6-9CEB-4A14-98B1-433FC3D031C9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8E8FB9D-91E0-4925-BD19-04A63521895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39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46C952-F125-9D45-4F46-75F11E8036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아웃박스 패턴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8910D1-8CF2-E46A-2A45-11F7ED6786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polling </a:t>
            </a:r>
            <a:r>
              <a:rPr lang="ko-KR" altLang="en-US"/>
              <a:t>방식과 </a:t>
            </a:r>
            <a:r>
              <a:rPr lang="en-US" altLang="ko-KR"/>
              <a:t>cdc </a:t>
            </a:r>
            <a:r>
              <a:rPr lang="ko-KR" altLang="en-US"/>
              <a:t>방식</a:t>
            </a:r>
          </a:p>
        </p:txBody>
      </p:sp>
    </p:spTree>
    <p:extLst>
      <p:ext uri="{BB962C8B-B14F-4D97-AF65-F5344CB8AC3E}">
        <p14:creationId xmlns:p14="http://schemas.microsoft.com/office/powerpoint/2010/main" val="43028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DEEAD5-546E-E824-5C86-0EFA504E3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 인식 </a:t>
            </a:r>
            <a:r>
              <a:rPr lang="en-US" altLang="ko-KR"/>
              <a:t>- Dual Write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4ACF99B-F383-ABDE-2B19-E9AEEAB71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026" y="1966500"/>
            <a:ext cx="8046720" cy="30755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74391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87DC6-4A6D-AC8D-1762-773370D88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OutBoxPattern </a:t>
            </a:r>
            <a:r>
              <a:rPr lang="ko-KR" altLang="en-US"/>
              <a:t>구조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D1E187-9532-C174-8AD3-4983DDD3A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35" y="1839026"/>
            <a:ext cx="7772232" cy="44856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A6C17C7-D859-7AEA-4A60-2BEBA6E23BE4}"/>
              </a:ext>
            </a:extLst>
          </p:cNvPr>
          <p:cNvSpPr/>
          <p:nvPr/>
        </p:nvSpPr>
        <p:spPr>
          <a:xfrm>
            <a:off x="258618" y="4793673"/>
            <a:ext cx="4350327" cy="6557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0453A5-C9FA-2372-914A-AD0FBA6911C7}"/>
              </a:ext>
            </a:extLst>
          </p:cNvPr>
          <p:cNvSpPr/>
          <p:nvPr/>
        </p:nvSpPr>
        <p:spPr>
          <a:xfrm>
            <a:off x="258617" y="5449455"/>
            <a:ext cx="5116947" cy="29556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BE1EAB-DD09-7562-2556-7A76C7FC0BEE}"/>
              </a:ext>
            </a:extLst>
          </p:cNvPr>
          <p:cNvSpPr txBox="1"/>
          <p:nvPr/>
        </p:nvSpPr>
        <p:spPr>
          <a:xfrm>
            <a:off x="8026400" y="1839026"/>
            <a:ext cx="3833091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/>
              <a:t>요약</a:t>
            </a:r>
            <a:r>
              <a:rPr lang="en-US" altLang="ko-KR" sz="1050"/>
              <a:t>: </a:t>
            </a:r>
          </a:p>
          <a:p>
            <a:endParaRPr lang="en-US" altLang="ko-KR" sz="1050"/>
          </a:p>
          <a:p>
            <a:r>
              <a:rPr lang="en-US" altLang="ko-KR" sz="1050"/>
              <a:t>1. </a:t>
            </a:r>
            <a:r>
              <a:rPr lang="ko-KR" altLang="en-US" sz="1050"/>
              <a:t>비지니스 데이터를 저장시 같은 </a:t>
            </a:r>
            <a:r>
              <a:rPr lang="en-US" altLang="ko-KR" sz="1050"/>
              <a:t>DB</a:t>
            </a:r>
            <a:r>
              <a:rPr lang="ko-KR" altLang="en-US" sz="1050"/>
              <a:t>트랜잭션으로 이벤트 메세지 정보를 </a:t>
            </a:r>
            <a:r>
              <a:rPr lang="en-US" altLang="ko-KR" sz="1050"/>
              <a:t>OutBox </a:t>
            </a:r>
            <a:r>
              <a:rPr lang="ko-KR" altLang="en-US" sz="1050"/>
              <a:t>테이블에 저장한다</a:t>
            </a:r>
            <a:r>
              <a:rPr lang="en-US" altLang="ko-KR" sz="1050"/>
              <a:t>.</a:t>
            </a:r>
          </a:p>
          <a:p>
            <a:endParaRPr lang="en-US" altLang="ko-KR" sz="1050"/>
          </a:p>
          <a:p>
            <a:r>
              <a:rPr lang="en-US" altLang="ko-KR" sz="1050"/>
              <a:t>2. </a:t>
            </a:r>
            <a:r>
              <a:rPr lang="ko-KR" altLang="en-US" sz="1050"/>
              <a:t>스케줄러 </a:t>
            </a:r>
            <a:r>
              <a:rPr lang="en-US" altLang="ko-KR" sz="1050"/>
              <a:t>Polling </a:t>
            </a:r>
            <a:r>
              <a:rPr lang="ko-KR" altLang="en-US" sz="1050"/>
              <a:t>또는 </a:t>
            </a:r>
            <a:r>
              <a:rPr lang="en-US" altLang="ko-KR" sz="1050"/>
              <a:t>CDC</a:t>
            </a:r>
            <a:r>
              <a:rPr lang="ko-KR" altLang="en-US" sz="1050"/>
              <a:t>가 변경된 테이블을 정보를 감지하여 메세지를 전송한다</a:t>
            </a:r>
            <a:r>
              <a:rPr lang="en-US" altLang="ko-KR" sz="1050"/>
              <a:t>.</a:t>
            </a:r>
            <a:endParaRPr lang="ko-KR" altLang="en-US" sz="1050"/>
          </a:p>
        </p:txBody>
      </p:sp>
    </p:spTree>
    <p:extLst>
      <p:ext uri="{BB962C8B-B14F-4D97-AF65-F5344CB8AC3E}">
        <p14:creationId xmlns:p14="http://schemas.microsoft.com/office/powerpoint/2010/main" val="152597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24DF9-D7E0-FB1C-BD9C-92BE3932A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OutBox </a:t>
            </a:r>
            <a:r>
              <a:rPr lang="ko-KR" altLang="en-US"/>
              <a:t>테이블 설계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5BBC7-947C-6D07-BD18-126B4E0812A7}"/>
              </a:ext>
            </a:extLst>
          </p:cNvPr>
          <p:cNvSpPr txBox="1"/>
          <p:nvPr/>
        </p:nvSpPr>
        <p:spPr>
          <a:xfrm>
            <a:off x="6945745" y="1901989"/>
            <a:ext cx="489527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인덱스 키를 설정하는 이유 </a:t>
            </a:r>
            <a:r>
              <a:rPr lang="en-US" altLang="ko-KR" sz="1400"/>
              <a:t>: </a:t>
            </a:r>
            <a:br>
              <a:rPr lang="en-US" altLang="ko-KR" sz="1400"/>
            </a:br>
            <a:r>
              <a:rPr lang="en-US" altLang="ko-KR" sz="1400"/>
              <a:t>&gt; </a:t>
            </a:r>
            <a:r>
              <a:rPr lang="ko-KR" altLang="en-US" sz="1400"/>
              <a:t>미발행</a:t>
            </a:r>
            <a:r>
              <a:rPr lang="en-US" altLang="ko-KR" sz="1400"/>
              <a:t>(PENDING)</a:t>
            </a:r>
            <a:r>
              <a:rPr lang="ko-KR" altLang="en-US" sz="1400"/>
              <a:t>된 메세지를 일자별로 빠르게 조회하기 위해 사용한다</a:t>
            </a:r>
            <a:r>
              <a:rPr lang="en-US" altLang="ko-KR" sz="1400"/>
              <a:t>.</a:t>
            </a:r>
            <a:br>
              <a:rPr lang="en-US" altLang="ko-KR" sz="1400"/>
            </a:br>
            <a:br>
              <a:rPr lang="en-US" altLang="ko-KR" sz="1400"/>
            </a:br>
            <a:endParaRPr lang="ko-KR" altLang="en-US" sz="140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3F1D2BC-D5E0-132F-3831-E6942B22A2F5}"/>
              </a:ext>
            </a:extLst>
          </p:cNvPr>
          <p:cNvGrpSpPr/>
          <p:nvPr/>
        </p:nvGrpSpPr>
        <p:grpSpPr>
          <a:xfrm>
            <a:off x="182881" y="1901989"/>
            <a:ext cx="6656789" cy="4743299"/>
            <a:chOff x="182881" y="1901989"/>
            <a:chExt cx="6656789" cy="474329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340FD22-4F9C-BE7B-3059-02FBAB9D8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2881" y="1901989"/>
              <a:ext cx="6656789" cy="474329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A0E2F99-F647-5BAA-18A4-170BB5C5EA2C}"/>
                </a:ext>
              </a:extLst>
            </p:cNvPr>
            <p:cNvSpPr/>
            <p:nvPr/>
          </p:nvSpPr>
          <p:spPr>
            <a:xfrm>
              <a:off x="692727" y="3592945"/>
              <a:ext cx="2512291" cy="2216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8614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9C719-8CEE-8D52-CC5C-DAA203D97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코드레벨 분석 </a:t>
            </a:r>
            <a:r>
              <a:rPr lang="en-US" altLang="ko-KR" sz="4000"/>
              <a:t>- OutBox </a:t>
            </a:r>
            <a:r>
              <a:rPr lang="ko-KR" altLang="en-US" sz="4000"/>
              <a:t>저장과 </a:t>
            </a:r>
            <a:r>
              <a:rPr lang="en-US" altLang="ko-KR" sz="4000"/>
              <a:t>Producer</a:t>
            </a:r>
            <a:endParaRPr lang="ko-KR" altLang="en-US" sz="40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D4A6DA-187C-D58F-899F-325BD41DA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897570"/>
            <a:ext cx="4785442" cy="43173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3DEF885-FB72-545F-623B-A5BEA521425B}"/>
              </a:ext>
            </a:extLst>
          </p:cNvPr>
          <p:cNvSpPr/>
          <p:nvPr/>
        </p:nvSpPr>
        <p:spPr>
          <a:xfrm>
            <a:off x="3694544" y="3190009"/>
            <a:ext cx="1395697" cy="477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저장 트랜잭션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E2C9EB-CEEB-BC15-7100-0F904AB8084C}"/>
              </a:ext>
            </a:extLst>
          </p:cNvPr>
          <p:cNvSpPr/>
          <p:nvPr/>
        </p:nvSpPr>
        <p:spPr>
          <a:xfrm>
            <a:off x="886691" y="3713018"/>
            <a:ext cx="3057236" cy="9790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EAE09AD-5C89-A207-AC29-A6E0CFD8B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795" y="1897570"/>
            <a:ext cx="4821524" cy="43960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C6714D3-3088-8F7D-2FDB-9209F842D136}"/>
              </a:ext>
            </a:extLst>
          </p:cNvPr>
          <p:cNvSpPr/>
          <p:nvPr/>
        </p:nvSpPr>
        <p:spPr>
          <a:xfrm>
            <a:off x="9190182" y="2503055"/>
            <a:ext cx="2881745" cy="10898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Outbox</a:t>
            </a:r>
            <a:r>
              <a:rPr lang="ko-KR" altLang="en-US" sz="1400"/>
              <a:t>에 저장된 메세지 정보를</a:t>
            </a:r>
            <a:br>
              <a:rPr lang="en-US" altLang="ko-KR" sz="1400"/>
            </a:br>
            <a:r>
              <a:rPr lang="en-US" altLang="ko-KR" sz="1400"/>
              <a:t>Scheduler</a:t>
            </a:r>
            <a:r>
              <a:rPr lang="ko-KR" altLang="en-US" sz="1400"/>
              <a:t>가 </a:t>
            </a:r>
            <a:r>
              <a:rPr lang="en-US" altLang="ko-KR" sz="1400"/>
              <a:t>1</a:t>
            </a:r>
            <a:r>
              <a:rPr lang="ko-KR" altLang="en-US" sz="1400"/>
              <a:t>초마다 읽어</a:t>
            </a:r>
            <a:r>
              <a:rPr lang="en-US" altLang="ko-KR" sz="1400"/>
              <a:t>, </a:t>
            </a:r>
            <a:r>
              <a:rPr lang="ko-KR" altLang="en-US" sz="1400"/>
              <a:t>미발행 메세지를 </a:t>
            </a:r>
            <a:r>
              <a:rPr lang="en-US" altLang="ko-KR" sz="1400"/>
              <a:t>100</a:t>
            </a:r>
            <a:r>
              <a:rPr lang="ko-KR" altLang="en-US" sz="1400"/>
              <a:t>건씩 처리한다</a:t>
            </a:r>
            <a:r>
              <a:rPr lang="en-US" altLang="ko-KR" sz="1400"/>
              <a:t>.</a:t>
            </a:r>
            <a:endParaRPr lang="ko-KR" altLang="en-US" sz="14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CA9712-4978-5FBC-3AD9-B3A2E925516F}"/>
              </a:ext>
            </a:extLst>
          </p:cNvPr>
          <p:cNvSpPr/>
          <p:nvPr/>
        </p:nvSpPr>
        <p:spPr>
          <a:xfrm>
            <a:off x="8035636" y="4562764"/>
            <a:ext cx="4036291" cy="9421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단점</a:t>
            </a:r>
            <a:r>
              <a:rPr lang="en-US" altLang="ko-KR" sz="1200"/>
              <a:t>:  1</a:t>
            </a:r>
            <a:r>
              <a:rPr lang="ko-KR" altLang="en-US" sz="1200"/>
              <a:t>초마다 스케줄링을 통해 메세지가 전송됨으로 메세지 등록 후 평균</a:t>
            </a:r>
            <a:r>
              <a:rPr lang="en-US" altLang="ko-KR" sz="1200"/>
              <a:t>1</a:t>
            </a:r>
            <a:r>
              <a:rPr lang="ko-KR" altLang="en-US" sz="1200"/>
              <a:t>초간의 </a:t>
            </a:r>
            <a:r>
              <a:rPr lang="en-US" altLang="ko-KR" sz="1200"/>
              <a:t>delay </a:t>
            </a:r>
            <a:r>
              <a:rPr lang="ko-KR" altLang="en-US" sz="1200"/>
              <a:t>타임을 가질 수 있다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en-US" altLang="ko-KR" sz="1200">
                <a:solidFill>
                  <a:srgbClr val="0000FF"/>
                </a:solidFill>
                <a:sym typeface="Wingdings" panose="05000000000000000000" pitchFamily="2" charset="2"/>
              </a:rPr>
              <a:t>DB</a:t>
            </a:r>
            <a:r>
              <a:rPr lang="ko-KR" altLang="en-US" sz="1200">
                <a:solidFill>
                  <a:srgbClr val="0000FF"/>
                </a:solidFill>
                <a:sym typeface="Wingdings" panose="05000000000000000000" pitchFamily="2" charset="2"/>
              </a:rPr>
              <a:t>에 쌓인 메세지가 늘어날 경우 메세지 도달 시간이 길어질 수 있다</a:t>
            </a:r>
            <a:r>
              <a:rPr lang="en-US" altLang="ko-KR" sz="1200">
                <a:solidFill>
                  <a:srgbClr val="0000FF"/>
                </a:solidFill>
                <a:sym typeface="Wingdings" panose="05000000000000000000" pitchFamily="2" charset="2"/>
              </a:rPr>
              <a:t>.</a:t>
            </a:r>
            <a:endParaRPr lang="ko-KR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418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90FFFA-D257-7946-AE42-A17BF60FC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코드레벨 분석 </a:t>
            </a:r>
            <a:r>
              <a:rPr lang="en-US" altLang="ko-KR" sz="3200"/>
              <a:t>- Consumer</a:t>
            </a:r>
            <a:r>
              <a:rPr lang="ko-KR" altLang="en-US" sz="3200"/>
              <a:t>와 </a:t>
            </a:r>
            <a:r>
              <a:rPr lang="en-US" altLang="ko-KR" sz="3200"/>
              <a:t>OutBox </a:t>
            </a:r>
            <a:r>
              <a:rPr lang="ko-KR" altLang="en-US" sz="3200"/>
              <a:t>메세지 상태 변경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F1B14C-1842-A586-229F-32FF41B17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319" y="1820488"/>
            <a:ext cx="5167681" cy="48349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FC5D863-2F7A-7B6C-A909-252A74179DB0}"/>
              </a:ext>
            </a:extLst>
          </p:cNvPr>
          <p:cNvSpPr/>
          <p:nvPr/>
        </p:nvSpPr>
        <p:spPr>
          <a:xfrm>
            <a:off x="1554480" y="4025535"/>
            <a:ext cx="3719484" cy="9159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8DD2B9F-A514-3F38-7C1A-20D0678E41C3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5273964" y="4221018"/>
            <a:ext cx="1126836" cy="2624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0ACBB9-BC65-A8EB-48DF-A375FFEC478A}"/>
              </a:ext>
            </a:extLst>
          </p:cNvPr>
          <p:cNvSpPr/>
          <p:nvPr/>
        </p:nvSpPr>
        <p:spPr>
          <a:xfrm>
            <a:off x="6456218" y="3833091"/>
            <a:ext cx="2974109" cy="11914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OutBox</a:t>
            </a:r>
            <a:r>
              <a:rPr lang="ko-KR" altLang="en-US" sz="1200">
                <a:solidFill>
                  <a:schemeClr val="tx1"/>
                </a:solidFill>
              </a:rPr>
              <a:t>테이블에 존재하는 메세지인지 확인후 비지니스로직 처리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E2AB0B4-6A94-7A54-9351-21DEB400666A}"/>
              </a:ext>
            </a:extLst>
          </p:cNvPr>
          <p:cNvGrpSpPr/>
          <p:nvPr/>
        </p:nvGrpSpPr>
        <p:grpSpPr>
          <a:xfrm>
            <a:off x="1554480" y="5024581"/>
            <a:ext cx="7875846" cy="1287550"/>
            <a:chOff x="1554480" y="5024581"/>
            <a:chExt cx="7875846" cy="128755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637CA4A-5311-C45F-A8DF-EFB08D9F03B6}"/>
                </a:ext>
              </a:extLst>
            </p:cNvPr>
            <p:cNvSpPr/>
            <p:nvPr/>
          </p:nvSpPr>
          <p:spPr>
            <a:xfrm>
              <a:off x="1554480" y="5024581"/>
              <a:ext cx="3590175" cy="42487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A6FD342-0DDE-FA7E-0750-BFE2C03A1102}"/>
                </a:ext>
              </a:extLst>
            </p:cNvPr>
            <p:cNvSpPr/>
            <p:nvPr/>
          </p:nvSpPr>
          <p:spPr>
            <a:xfrm>
              <a:off x="6456217" y="5120641"/>
              <a:ext cx="2974109" cy="119149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chemeClr val="tx1"/>
                  </a:solidFill>
                </a:rPr>
                <a:t>비지니스 로직 처리후 재처리 되지 않도록 메세지의 상태를 변경하여 기록한다</a:t>
              </a:r>
              <a:r>
                <a:rPr lang="en-US" altLang="ko-KR" sz="1200">
                  <a:solidFill>
                    <a:schemeClr val="tx1"/>
                  </a:solidFill>
                </a:rPr>
                <a:t>.</a:t>
              </a:r>
              <a:endParaRPr lang="ko-KR" altLang="en-US" sz="1200">
                <a:solidFill>
                  <a:schemeClr val="tx1"/>
                </a:solidFill>
              </a:endParaRP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EAE1C26B-EDFF-9DE3-162A-C12B1B99DB44}"/>
                </a:ext>
              </a:extLst>
            </p:cNvPr>
            <p:cNvCxnSpPr>
              <a:stCxn id="5" idx="3"/>
              <a:endCxn id="11" idx="1"/>
            </p:cNvCxnSpPr>
            <p:nvPr/>
          </p:nvCxnSpPr>
          <p:spPr>
            <a:xfrm>
              <a:off x="5144655" y="5237018"/>
              <a:ext cx="1311562" cy="4793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11758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F30CD-BA2E-737C-5D66-998FD2021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921877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136</TotalTime>
  <Words>156</Words>
  <Application>Microsoft Office PowerPoint</Application>
  <PresentationFormat>와이드스크린</PresentationFormat>
  <Paragraphs>18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Wingdings</vt:lpstr>
      <vt:lpstr>추억</vt:lpstr>
      <vt:lpstr>아웃박스 패턴</vt:lpstr>
      <vt:lpstr>문제 인식 - Dual Write</vt:lpstr>
      <vt:lpstr>OutBoxPattern 구조 </vt:lpstr>
      <vt:lpstr>OutBox 테이블 설계</vt:lpstr>
      <vt:lpstr>코드레벨 분석 - OutBox 저장과 Producer</vt:lpstr>
      <vt:lpstr>코드레벨 분석 - Consumer와 OutBox 메세지 상태 변경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15</cp:revision>
  <dcterms:created xsi:type="dcterms:W3CDTF">2026-10-21T02:45:33Z</dcterms:created>
  <dcterms:modified xsi:type="dcterms:W3CDTF">2026-10-21T05:01:41Z</dcterms:modified>
</cp:coreProperties>
</file>